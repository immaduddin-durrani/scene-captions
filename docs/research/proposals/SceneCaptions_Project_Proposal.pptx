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 our project is called SceneCaptions.
Captions do not just carry dialogue. They also carry sound: music, weather, footsteps, doors. For Deaf and hard-of-hearing viewers, those bracketed non-speech captions are often the only route to mood and atmosphere.
Today they are written once, in one fixed form, for everyone. Our question is whether that should be true — and what happens if a viewer can shape that layer of the captions themselves.
Over the next few minutes: what the problem is, what prior work has shown, the gap we found, what we want to build, and how we would evaluate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one picture. One scene, one piece of music — and three perfectly reasonable ways to caption it.
'[music]' is what you often get. '[tense music]' tells you the mood. The long version tells you the mood, the texture and where the sound is coming from.
None of these is wrong. The point is that the right amount of detail depends on the viewer: some people want to read as little as possible and keep their eyes on the picture, others want the atmosphere spelled out.
Right now that choice is made once, by the caption author, for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recent ASSETS 2025 papers set this up. Everything on this slide is their finding, not ours.
CapTune let DHH viewers customise non-speech captions along four dimensions — detail, expressiveness, how a sound is represented, and genre fit — with seven creators and twelve DHH viewers. It found richer captions helped engagement, but traded against cognitive load, and that preferences are context-dependent.
CuCap compared caption customisation across 28 North American and 21 South Korean DHH participants and found choices are shaped by culture and language, not just individual taste — and that heavy customisation can overwhelm people.
Interpretive Caption, a smaller study with eight DHH participants in STEM settings, is about speech rather than sound, but its lesson transfers: a minimal display that reveals detail on demand reduced distraction, and the authors argue for context-aware design plus user control.
The common setting: short clips. CapTune's own limitations section says its clips ran two to eight minutes, and that longer content raises questions it does not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gap, and it is the pivot of the whole proposal.
Everything we just saw was evaluated on short clips — two to eight minutes. That is long enough to show that people have preferences. It is not long enough to show whether a preference survives a whole story: scenes change pace, tension builds, a viewer gets tired, and captions have to stay coherent with what came an hour earlier.
CapTune's authors say this themselves. Longer content brings narrative consistency, viewer fatigue and cumulative comprehension into play, and their study does not address those.
That gives us our research question. Read it out.
Note what it does not say: it does not assume adaptive captions are better. Whether they help is exactly what we want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want to build: a web-based video player called SceneCaptions, running one episode or a licensed 20–30 minute film.
Three ideas, all of them proposals rather than proven features.
One: a saved caption profile. You pick concise or descriptive once and it holds for the whole video, instead of fiddling with settings every few minutes. Prior participants asked for exactly this.
Two: scene-aware adaptation. In a fast action sequence the caption gets out of the way; in a quiet scene there is room to describe a sound that carries meaning. We are investigating whether this helps — we are not claiming it does.
Three, and this one matters most to us: control. The 'Show original' button restores the authored caption instantly, and the preview pane shows you what a setting actually changes before you commit. Nobody gets locked into an AI interpretation of a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it is a short pipeline. The video and its original caption file go in. We work out something about the scene — pace, whether it's loud or quiet. That, plus the viewer's saved preference, decides how the non-speech caption is presented. The viewer sees the result, and their preference feeds straight back into the adaptation step. That dashed arrow is the control loop.
Two examples underneath, both illustrative. In a fast action scene the caption gets shorter so it can be read at a glance. In a quiet scene a bare '[music]' can become something that actually conveys the mood.
On scope: this is a semester project, so we are not building generative captioning from scratch. Where open-source research components exist — CapTune's authors publish their code — we reuse them, and we put our effort into the player, the interaction design and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we would judge it.
We want DHH participants watching longer story-driven material, not a two-minute clip, and we want to know five things: is the caption useful, how much detail did they want, did it stay consistent as scenes changed, did they feel in control, and did the scene-aware behaviour help or get in the way. Plus whether the preview and show-original controls are actually usable.
We are deliberately not putting a participant number on this slide. Recruitment of DHH participants has to be done properly and ethically, and the study design and sample size will be finalised with our supervisor.
The contribution, if it works, is on the right: pushing personalized sound captions from short clips into continuous viewing, testing whether adapting to scene context helps, and keeping the viewer in charge throughout.
That's SceneCaptions.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p:bgPr>
    </p:bg>
    <p:spTree>
      <p:nvGrpSpPr>
        <p:cNvPr id="1" name=""/>
        <p:cNvGrpSpPr/>
        <p:nvPr/>
      </p:nvGrpSpPr>
      <p:grpSpPr>
        <a:xfrm>
          <a:off x="0" y="0"/>
          <a:ext cx="0" cy="0"/>
          <a:chOff x="0" y="0"/>
          <a:chExt cx="0" cy="0"/>
        </a:xfrm>
      </p:grpSpPr>
      <p:sp>
        <p:nvSpPr>
          <p:cNvPr id="2" name="Text 0"/>
          <p:cNvSpPr txBox="1"/>
          <p:nvPr/>
        </p:nvSpPr>
        <p:spPr>
          <a:xfrm>
            <a:off x="685800" y="1051560"/>
            <a:ext cx="5120640" cy="237744"/>
          </a:xfrm>
          <a:prstGeom prst="rect">
            <a:avLst/>
          </a:prstGeom>
          <a:noFill/>
          <a:ln/>
        </p:spPr>
        <p:txBody>
          <a:bodyPr wrap="square" lIns="0" tIns="0" rIns="0" bIns="0" rtlCol="0" anchor="ctr"/>
          <a:lstStyle/>
          <a:p>
            <a:pPr indent="0" marL="0">
              <a:buNone/>
            </a:pPr>
            <a:r>
              <a:rPr lang="en-US" sz="1000" b="1" spc="160" kern="0" dirty="0">
                <a:solidFill>
                  <a:srgbClr val="F0B429"/>
                </a:solidFill>
                <a:latin typeface="Arial" pitchFamily="34" charset="0"/>
                <a:ea typeface="Arial" pitchFamily="34" charset="-122"/>
                <a:cs typeface="Arial" pitchFamily="34" charset="-120"/>
              </a:rPr>
              <a:t>HCI SEMESTER PROJECT PROPOSAL</a:t>
            </a:r>
            <a:endParaRPr lang="en-US" sz="1000" dirty="0"/>
          </a:p>
        </p:txBody>
      </p:sp>
      <p:sp>
        <p:nvSpPr>
          <p:cNvPr id="3" name="Text 1"/>
          <p:cNvSpPr txBox="1"/>
          <p:nvPr/>
        </p:nvSpPr>
        <p:spPr>
          <a:xfrm>
            <a:off x="640080" y="1371600"/>
            <a:ext cx="5120640" cy="914400"/>
          </a:xfrm>
          <a:prstGeom prst="rect">
            <a:avLst/>
          </a:prstGeom>
          <a:noFill/>
          <a:ln/>
        </p:spPr>
        <p:txBody>
          <a:bodyPr wrap="square" lIns="0" tIns="0" rIns="0" bIns="0" rtlCol="0" anchor="ctr"/>
          <a:lstStyle/>
          <a:p>
            <a:pPr indent="0" marL="0">
              <a:buNone/>
            </a:pPr>
            <a:r>
              <a:rPr lang="en-US" sz="5200" b="1" dirty="0">
                <a:solidFill>
                  <a:srgbClr val="F4F6FA"/>
                </a:solidFill>
                <a:latin typeface="Arial" pitchFamily="34" charset="0"/>
                <a:ea typeface="Arial" pitchFamily="34" charset="-122"/>
                <a:cs typeface="Arial" pitchFamily="34" charset="-120"/>
              </a:rPr>
              <a:t>SceneCaptions</a:t>
            </a:r>
            <a:endParaRPr lang="en-US" sz="5200" dirty="0"/>
          </a:p>
        </p:txBody>
      </p:sp>
      <p:sp>
        <p:nvSpPr>
          <p:cNvPr id="4" name="Text 2"/>
          <p:cNvSpPr txBox="1"/>
          <p:nvPr/>
        </p:nvSpPr>
        <p:spPr>
          <a:xfrm>
            <a:off x="658368" y="2331720"/>
            <a:ext cx="5029200" cy="777240"/>
          </a:xfrm>
          <a:prstGeom prst="rect">
            <a:avLst/>
          </a:prstGeom>
          <a:noFill/>
          <a:ln/>
        </p:spPr>
        <p:txBody>
          <a:bodyPr wrap="square" lIns="0" tIns="0" rIns="0" bIns="0" rtlCol="0" anchor="ctr"/>
          <a:lstStyle/>
          <a:p>
            <a:pPr indent="0" marL="0">
              <a:lnSpc>
                <a:spcPts val="2400"/>
              </a:lnSpc>
              <a:buNone/>
            </a:pPr>
            <a:r>
              <a:rPr lang="en-US" sz="1800" dirty="0">
                <a:solidFill>
                  <a:srgbClr val="F0B429"/>
                </a:solidFill>
                <a:latin typeface="Arial" pitchFamily="34" charset="0"/>
                <a:ea typeface="Arial" pitchFamily="34" charset="-122"/>
                <a:cs typeface="Arial" pitchFamily="34" charset="-120"/>
              </a:rPr>
              <a:t>Adaptive non-speech captions for</a:t>
            </a:r>
            <a:endParaRPr lang="en-US" sz="1800" dirty="0"/>
          </a:p>
          <a:p>
            <a:pPr indent="0" marL="0">
              <a:lnSpc>
                <a:spcPts val="2400"/>
              </a:lnSpc>
              <a:buNone/>
            </a:pPr>
            <a:r>
              <a:rPr lang="en-US" sz="1800" dirty="0">
                <a:solidFill>
                  <a:srgbClr val="F0B429"/>
                </a:solidFill>
                <a:latin typeface="Arial" pitchFamily="34" charset="0"/>
                <a:ea typeface="Arial" pitchFamily="34" charset="-122"/>
                <a:cs typeface="Arial" pitchFamily="34" charset="-120"/>
              </a:rPr>
              <a:t>Deaf and hard-of-hearing viewers</a:t>
            </a:r>
            <a:endParaRPr lang="en-US" sz="1800" dirty="0"/>
          </a:p>
        </p:txBody>
      </p:sp>
      <p:sp>
        <p:nvSpPr>
          <p:cNvPr id="5" name="Text 3"/>
          <p:cNvSpPr txBox="1"/>
          <p:nvPr/>
        </p:nvSpPr>
        <p:spPr>
          <a:xfrm>
            <a:off x="658368" y="3200400"/>
            <a:ext cx="5029200" cy="548640"/>
          </a:xfrm>
          <a:prstGeom prst="rect">
            <a:avLst/>
          </a:prstGeom>
          <a:noFill/>
          <a:ln/>
        </p:spPr>
        <p:txBody>
          <a:bodyPr wrap="square" lIns="0" tIns="0" rIns="0" bIns="0" rtlCol="0" anchor="ctr"/>
          <a:lstStyle/>
          <a:p>
            <a:pPr indent="0" marL="0">
              <a:lnSpc>
                <a:spcPts val="1500"/>
              </a:lnSpc>
              <a:buNone/>
            </a:pPr>
            <a:r>
              <a:rPr lang="en-US" sz="1050" dirty="0">
                <a:solidFill>
                  <a:srgbClr val="6C7585"/>
                </a:solidFill>
                <a:latin typeface="Arial" pitchFamily="34" charset="0"/>
                <a:ea typeface="Arial" pitchFamily="34" charset="-122"/>
                <a:cs typeface="Arial" pitchFamily="34" charset="-120"/>
              </a:rPr>
              <a:t>DHH = Deaf and hard-of-hearing.  Non-speech captions are the bracketed sound descriptions in subtitles, e.g. [door creaks].</a:t>
            </a:r>
            <a:endParaRPr lang="en-US" sz="1050" dirty="0"/>
          </a:p>
        </p:txBody>
      </p:sp>
      <p:sp>
        <p:nvSpPr>
          <p:cNvPr id="6" name="Shape 4"/>
          <p:cNvSpPr/>
          <p:nvPr/>
        </p:nvSpPr>
        <p:spPr>
          <a:xfrm>
            <a:off x="640080" y="3977640"/>
            <a:ext cx="5120640" cy="914400"/>
          </a:xfrm>
          <a:prstGeom prst="roundRect">
            <a:avLst>
              <a:gd name="adj" fmla="val 14000"/>
            </a:avLst>
          </a:prstGeom>
          <a:solidFill>
            <a:srgbClr val="161A22"/>
          </a:solidFill>
          <a:ln w="12700">
            <a:solidFill>
              <a:srgbClr val="F0B429"/>
            </a:solidFill>
            <a:prstDash val="solid"/>
          </a:ln>
        </p:spPr>
      </p:sp>
      <p:sp>
        <p:nvSpPr>
          <p:cNvPr id="7" name="Text 5"/>
          <p:cNvSpPr txBox="1"/>
          <p:nvPr/>
        </p:nvSpPr>
        <p:spPr>
          <a:xfrm>
            <a:off x="868680" y="3977640"/>
            <a:ext cx="4663440" cy="914400"/>
          </a:xfrm>
          <a:prstGeom prst="rect">
            <a:avLst/>
          </a:prstGeom>
          <a:noFill/>
          <a:ln/>
        </p:spPr>
        <p:txBody>
          <a:bodyPr wrap="square" lIns="0" tIns="0" rIns="0" bIns="0" rtlCol="0" anchor="ctr"/>
          <a:lstStyle/>
          <a:p>
            <a:pPr indent="0" marL="0">
              <a:lnSpc>
                <a:spcPts val="2300"/>
              </a:lnSpc>
              <a:buNone/>
            </a:pPr>
            <a:r>
              <a:rPr lang="en-US" sz="1700" i="1" dirty="0">
                <a:solidFill>
                  <a:srgbClr val="F4F6FA"/>
                </a:solidFill>
                <a:latin typeface="Arial" pitchFamily="34" charset="0"/>
                <a:ea typeface="Arial" pitchFamily="34" charset="-122"/>
                <a:cs typeface="Arial" pitchFamily="34" charset="-120"/>
              </a:rPr>
              <a:t>Should every viewer experience</a:t>
            </a:r>
            <a:endParaRPr lang="en-US" sz="1700" dirty="0"/>
          </a:p>
          <a:p>
            <a:pPr indent="0" marL="0">
              <a:lnSpc>
                <a:spcPts val="2300"/>
              </a:lnSpc>
              <a:buNone/>
            </a:pPr>
            <a:r>
              <a:rPr lang="en-US" sz="1700" i="1" dirty="0">
                <a:solidFill>
                  <a:srgbClr val="F4F6FA"/>
                </a:solidFill>
                <a:latin typeface="Arial" pitchFamily="34" charset="0"/>
                <a:ea typeface="Arial" pitchFamily="34" charset="-122"/>
                <a:cs typeface="Arial" pitchFamily="34" charset="-120"/>
              </a:rPr>
              <a:t>sound captions the same way?</a:t>
            </a:r>
            <a:endParaRPr lang="en-US" sz="1700" dirty="0"/>
          </a:p>
        </p:txBody>
      </p:sp>
      <p:sp>
        <p:nvSpPr>
          <p:cNvPr id="8" name="Shape 6"/>
          <p:cNvSpPr/>
          <p:nvPr/>
        </p:nvSpPr>
        <p:spPr>
          <a:xfrm>
            <a:off x="6263640" y="1051560"/>
            <a:ext cx="5257800" cy="4434840"/>
          </a:xfrm>
          <a:prstGeom prst="roundRect">
            <a:avLst>
              <a:gd name="adj" fmla="val 3299"/>
            </a:avLst>
          </a:prstGeom>
          <a:solidFill>
            <a:srgbClr val="161A22"/>
          </a:solidFill>
          <a:ln w="12700">
            <a:solidFill>
              <a:srgbClr val="2E3543"/>
            </a:solidFill>
            <a:prstDash val="solid"/>
          </a:ln>
        </p:spPr>
      </p:sp>
      <p:sp>
        <p:nvSpPr>
          <p:cNvPr id="9" name="Shape 7"/>
          <p:cNvSpPr/>
          <p:nvPr/>
        </p:nvSpPr>
        <p:spPr>
          <a:xfrm>
            <a:off x="6464808" y="1252728"/>
            <a:ext cx="4855464" cy="2971800"/>
          </a:xfrm>
          <a:prstGeom prst="rect">
            <a:avLst/>
          </a:prstGeom>
          <a:solidFill>
            <a:srgbClr val="0E1219"/>
          </a:solidFill>
          <a:ln w="12700">
            <a:solidFill>
              <a:srgbClr val="333333"/>
            </a:solidFill>
            <a:prstDash val="solid"/>
          </a:ln>
        </p:spPr>
      </p:sp>
      <p:sp>
        <p:nvSpPr>
          <p:cNvPr id="10" name="Shape 8"/>
          <p:cNvSpPr/>
          <p:nvPr/>
        </p:nvSpPr>
        <p:spPr>
          <a:xfrm>
            <a:off x="6464808" y="1252728"/>
            <a:ext cx="4855464" cy="1723644"/>
          </a:xfrm>
          <a:prstGeom prst="rect">
            <a:avLst/>
          </a:prstGeom>
          <a:solidFill>
            <a:srgbClr val="141B27"/>
          </a:solidFill>
          <a:ln w="12700">
            <a:solidFill>
              <a:srgbClr val="333333"/>
            </a:solidFill>
            <a:prstDash val="solid"/>
          </a:ln>
        </p:spPr>
      </p:sp>
      <p:sp>
        <p:nvSpPr>
          <p:cNvPr id="11" name="Shape 9"/>
          <p:cNvSpPr/>
          <p:nvPr/>
        </p:nvSpPr>
        <p:spPr>
          <a:xfrm>
            <a:off x="9960742" y="1609344"/>
            <a:ext cx="505206" cy="505206"/>
          </a:xfrm>
          <a:prstGeom prst="ellipse">
            <a:avLst/>
          </a:prstGeom>
          <a:solidFill>
            <a:srgbClr val="D9DEE8"/>
          </a:solidFill>
          <a:ln w="12700">
            <a:solidFill>
              <a:srgbClr val="333333"/>
            </a:solidFill>
            <a:prstDash val="solid"/>
          </a:ln>
        </p:spPr>
      </p:sp>
      <p:sp>
        <p:nvSpPr>
          <p:cNvPr id="12" name="Shape 10"/>
          <p:cNvSpPr/>
          <p:nvPr/>
        </p:nvSpPr>
        <p:spPr>
          <a:xfrm>
            <a:off x="6756136" y="2500884"/>
            <a:ext cx="315605" cy="475488"/>
          </a:xfrm>
          <a:prstGeom prst="rect">
            <a:avLst/>
          </a:prstGeom>
          <a:solidFill>
            <a:srgbClr val="0A0E15"/>
          </a:solidFill>
          <a:ln w="12700">
            <a:solidFill>
              <a:srgbClr val="333333"/>
            </a:solidFill>
            <a:prstDash val="solid"/>
          </a:ln>
        </p:spPr>
      </p:sp>
      <p:sp>
        <p:nvSpPr>
          <p:cNvPr id="13" name="Shape 11"/>
          <p:cNvSpPr/>
          <p:nvPr/>
        </p:nvSpPr>
        <p:spPr>
          <a:xfrm>
            <a:off x="7144573" y="2233422"/>
            <a:ext cx="315605" cy="742950"/>
          </a:xfrm>
          <a:prstGeom prst="rect">
            <a:avLst/>
          </a:prstGeom>
          <a:solidFill>
            <a:srgbClr val="0A0E15"/>
          </a:solidFill>
          <a:ln w="12700">
            <a:solidFill>
              <a:srgbClr val="333333"/>
            </a:solidFill>
            <a:prstDash val="solid"/>
          </a:ln>
        </p:spPr>
      </p:sp>
      <p:sp>
        <p:nvSpPr>
          <p:cNvPr id="14" name="Shape 12"/>
          <p:cNvSpPr/>
          <p:nvPr/>
        </p:nvSpPr>
        <p:spPr>
          <a:xfrm>
            <a:off x="7484455" y="2619756"/>
            <a:ext cx="315605" cy="356616"/>
          </a:xfrm>
          <a:prstGeom prst="rect">
            <a:avLst/>
          </a:prstGeom>
          <a:solidFill>
            <a:srgbClr val="0A0E15"/>
          </a:solidFill>
          <a:ln w="12700">
            <a:solidFill>
              <a:srgbClr val="333333"/>
            </a:solidFill>
            <a:prstDash val="solid"/>
          </a:ln>
        </p:spPr>
      </p:sp>
      <p:sp>
        <p:nvSpPr>
          <p:cNvPr id="15" name="Shape 13"/>
          <p:cNvSpPr/>
          <p:nvPr/>
        </p:nvSpPr>
        <p:spPr>
          <a:xfrm>
            <a:off x="7921447" y="2084832"/>
            <a:ext cx="315605" cy="891540"/>
          </a:xfrm>
          <a:prstGeom prst="rect">
            <a:avLst/>
          </a:prstGeom>
          <a:solidFill>
            <a:srgbClr val="0A0E15"/>
          </a:solidFill>
          <a:ln w="12700">
            <a:solidFill>
              <a:srgbClr val="333333"/>
            </a:solidFill>
            <a:prstDash val="solid"/>
          </a:ln>
        </p:spPr>
      </p:sp>
      <p:sp>
        <p:nvSpPr>
          <p:cNvPr id="16" name="Shape 14"/>
          <p:cNvSpPr/>
          <p:nvPr/>
        </p:nvSpPr>
        <p:spPr>
          <a:xfrm>
            <a:off x="8406994" y="2441448"/>
            <a:ext cx="315605" cy="534924"/>
          </a:xfrm>
          <a:prstGeom prst="rect">
            <a:avLst/>
          </a:prstGeom>
          <a:solidFill>
            <a:srgbClr val="0A0E15"/>
          </a:solidFill>
          <a:ln w="12700">
            <a:solidFill>
              <a:srgbClr val="333333"/>
            </a:solidFill>
            <a:prstDash val="solid"/>
          </a:ln>
        </p:spPr>
      </p:sp>
      <p:sp>
        <p:nvSpPr>
          <p:cNvPr id="17" name="Shape 15"/>
          <p:cNvSpPr/>
          <p:nvPr/>
        </p:nvSpPr>
        <p:spPr>
          <a:xfrm>
            <a:off x="8989649" y="2322576"/>
            <a:ext cx="315605" cy="653796"/>
          </a:xfrm>
          <a:prstGeom prst="rect">
            <a:avLst/>
          </a:prstGeom>
          <a:solidFill>
            <a:srgbClr val="0A0E15"/>
          </a:solidFill>
          <a:ln w="12700">
            <a:solidFill>
              <a:srgbClr val="333333"/>
            </a:solidFill>
            <a:prstDash val="solid"/>
          </a:ln>
        </p:spPr>
      </p:sp>
      <p:sp>
        <p:nvSpPr>
          <p:cNvPr id="18" name="Shape 16"/>
          <p:cNvSpPr/>
          <p:nvPr/>
        </p:nvSpPr>
        <p:spPr>
          <a:xfrm>
            <a:off x="9378086" y="2590038"/>
            <a:ext cx="315605" cy="386334"/>
          </a:xfrm>
          <a:prstGeom prst="rect">
            <a:avLst/>
          </a:prstGeom>
          <a:solidFill>
            <a:srgbClr val="0A0E15"/>
          </a:solidFill>
          <a:ln w="12700">
            <a:solidFill>
              <a:srgbClr val="333333"/>
            </a:solidFill>
            <a:prstDash val="solid"/>
          </a:ln>
        </p:spPr>
      </p:sp>
      <p:sp>
        <p:nvSpPr>
          <p:cNvPr id="19" name="Shape 17"/>
          <p:cNvSpPr/>
          <p:nvPr/>
        </p:nvSpPr>
        <p:spPr>
          <a:xfrm>
            <a:off x="6464808" y="2976372"/>
            <a:ext cx="4855464" cy="1248156"/>
          </a:xfrm>
          <a:prstGeom prst="rect">
            <a:avLst/>
          </a:prstGeom>
          <a:solidFill>
            <a:srgbClr val="0A0D13"/>
          </a:solidFill>
          <a:ln w="12700">
            <a:solidFill>
              <a:srgbClr val="333333"/>
            </a:solidFill>
            <a:prstDash val="solid"/>
          </a:ln>
        </p:spPr>
      </p:sp>
      <p:sp>
        <p:nvSpPr>
          <p:cNvPr id="20" name="Shape 18"/>
          <p:cNvSpPr/>
          <p:nvPr/>
        </p:nvSpPr>
        <p:spPr>
          <a:xfrm flipH="1">
            <a:off x="6610472" y="1401318"/>
            <a:ext cx="36576" cy="326898"/>
          </a:xfrm>
          <a:prstGeom prst="line">
            <a:avLst/>
          </a:prstGeom>
          <a:noFill/>
          <a:ln w="12700">
            <a:solidFill>
              <a:srgbClr val="6B7A93"/>
            </a:solidFill>
            <a:prstDash val="solid"/>
          </a:ln>
        </p:spPr>
      </p:sp>
      <p:sp>
        <p:nvSpPr>
          <p:cNvPr id="21" name="Shape 19"/>
          <p:cNvSpPr/>
          <p:nvPr/>
        </p:nvSpPr>
        <p:spPr>
          <a:xfrm flipH="1">
            <a:off x="6906655" y="1906524"/>
            <a:ext cx="36576" cy="326898"/>
          </a:xfrm>
          <a:prstGeom prst="line">
            <a:avLst/>
          </a:prstGeom>
          <a:noFill/>
          <a:ln w="12700">
            <a:solidFill>
              <a:srgbClr val="6B7A93"/>
            </a:solidFill>
            <a:prstDash val="solid"/>
          </a:ln>
        </p:spPr>
      </p:sp>
      <p:sp>
        <p:nvSpPr>
          <p:cNvPr id="22" name="Shape 20"/>
          <p:cNvSpPr/>
          <p:nvPr/>
        </p:nvSpPr>
        <p:spPr>
          <a:xfrm flipH="1">
            <a:off x="7202839" y="2411730"/>
            <a:ext cx="36576" cy="326898"/>
          </a:xfrm>
          <a:prstGeom prst="line">
            <a:avLst/>
          </a:prstGeom>
          <a:noFill/>
          <a:ln w="12700">
            <a:solidFill>
              <a:srgbClr val="6B7A93"/>
            </a:solidFill>
            <a:prstDash val="solid"/>
          </a:ln>
        </p:spPr>
      </p:sp>
      <p:sp>
        <p:nvSpPr>
          <p:cNvPr id="23" name="Shape 21"/>
          <p:cNvSpPr/>
          <p:nvPr/>
        </p:nvSpPr>
        <p:spPr>
          <a:xfrm flipH="1">
            <a:off x="7499022" y="2916936"/>
            <a:ext cx="36576" cy="326898"/>
          </a:xfrm>
          <a:prstGeom prst="line">
            <a:avLst/>
          </a:prstGeom>
          <a:noFill/>
          <a:ln w="12700">
            <a:solidFill>
              <a:srgbClr val="6B7A93"/>
            </a:solidFill>
            <a:prstDash val="solid"/>
          </a:ln>
        </p:spPr>
      </p:sp>
      <p:sp>
        <p:nvSpPr>
          <p:cNvPr id="24" name="Shape 22"/>
          <p:cNvSpPr/>
          <p:nvPr/>
        </p:nvSpPr>
        <p:spPr>
          <a:xfrm flipH="1">
            <a:off x="7795205" y="1579626"/>
            <a:ext cx="36576" cy="326898"/>
          </a:xfrm>
          <a:prstGeom prst="line">
            <a:avLst/>
          </a:prstGeom>
          <a:noFill/>
          <a:ln w="12700">
            <a:solidFill>
              <a:srgbClr val="6B7A93"/>
            </a:solidFill>
            <a:prstDash val="solid"/>
          </a:ln>
        </p:spPr>
      </p:sp>
      <p:sp>
        <p:nvSpPr>
          <p:cNvPr id="25" name="Shape 23"/>
          <p:cNvSpPr/>
          <p:nvPr/>
        </p:nvSpPr>
        <p:spPr>
          <a:xfrm flipH="1">
            <a:off x="8091388" y="2084832"/>
            <a:ext cx="36576" cy="326898"/>
          </a:xfrm>
          <a:prstGeom prst="line">
            <a:avLst/>
          </a:prstGeom>
          <a:noFill/>
          <a:ln w="12700">
            <a:solidFill>
              <a:srgbClr val="6B7A93"/>
            </a:solidFill>
            <a:prstDash val="solid"/>
          </a:ln>
        </p:spPr>
      </p:sp>
      <p:sp>
        <p:nvSpPr>
          <p:cNvPr id="26" name="Shape 24"/>
          <p:cNvSpPr/>
          <p:nvPr/>
        </p:nvSpPr>
        <p:spPr>
          <a:xfrm flipH="1">
            <a:off x="8387572" y="2590038"/>
            <a:ext cx="36576" cy="326898"/>
          </a:xfrm>
          <a:prstGeom prst="line">
            <a:avLst/>
          </a:prstGeom>
          <a:noFill/>
          <a:ln w="12700">
            <a:solidFill>
              <a:srgbClr val="6B7A93"/>
            </a:solidFill>
            <a:prstDash val="solid"/>
          </a:ln>
        </p:spPr>
      </p:sp>
      <p:sp>
        <p:nvSpPr>
          <p:cNvPr id="27" name="Shape 25"/>
          <p:cNvSpPr/>
          <p:nvPr/>
        </p:nvSpPr>
        <p:spPr>
          <a:xfrm flipH="1">
            <a:off x="8683755" y="3095244"/>
            <a:ext cx="36576" cy="326898"/>
          </a:xfrm>
          <a:prstGeom prst="line">
            <a:avLst/>
          </a:prstGeom>
          <a:noFill/>
          <a:ln w="12700">
            <a:solidFill>
              <a:srgbClr val="6B7A93"/>
            </a:solidFill>
            <a:prstDash val="solid"/>
          </a:ln>
        </p:spPr>
      </p:sp>
      <p:sp>
        <p:nvSpPr>
          <p:cNvPr id="28" name="Shape 26"/>
          <p:cNvSpPr/>
          <p:nvPr/>
        </p:nvSpPr>
        <p:spPr>
          <a:xfrm flipH="1">
            <a:off x="8979938" y="1757934"/>
            <a:ext cx="36576" cy="326898"/>
          </a:xfrm>
          <a:prstGeom prst="line">
            <a:avLst/>
          </a:prstGeom>
          <a:noFill/>
          <a:ln w="12700">
            <a:solidFill>
              <a:srgbClr val="6B7A93"/>
            </a:solidFill>
            <a:prstDash val="solid"/>
          </a:ln>
        </p:spPr>
      </p:sp>
      <p:sp>
        <p:nvSpPr>
          <p:cNvPr id="29" name="Shape 27"/>
          <p:cNvSpPr/>
          <p:nvPr/>
        </p:nvSpPr>
        <p:spPr>
          <a:xfrm flipH="1">
            <a:off x="9276122" y="2263140"/>
            <a:ext cx="36576" cy="326898"/>
          </a:xfrm>
          <a:prstGeom prst="line">
            <a:avLst/>
          </a:prstGeom>
          <a:noFill/>
          <a:ln w="12700">
            <a:solidFill>
              <a:srgbClr val="6B7A93"/>
            </a:solidFill>
            <a:prstDash val="solid"/>
          </a:ln>
        </p:spPr>
      </p:sp>
      <p:sp>
        <p:nvSpPr>
          <p:cNvPr id="30" name="Shape 28"/>
          <p:cNvSpPr/>
          <p:nvPr/>
        </p:nvSpPr>
        <p:spPr>
          <a:xfrm flipH="1">
            <a:off x="9572305" y="2768346"/>
            <a:ext cx="36576" cy="326898"/>
          </a:xfrm>
          <a:prstGeom prst="line">
            <a:avLst/>
          </a:prstGeom>
          <a:noFill/>
          <a:ln w="12700">
            <a:solidFill>
              <a:srgbClr val="6B7A93"/>
            </a:solidFill>
            <a:prstDash val="solid"/>
          </a:ln>
        </p:spPr>
      </p:sp>
      <p:sp>
        <p:nvSpPr>
          <p:cNvPr id="31" name="Shape 29"/>
          <p:cNvSpPr/>
          <p:nvPr/>
        </p:nvSpPr>
        <p:spPr>
          <a:xfrm flipH="1">
            <a:off x="9868488" y="1431036"/>
            <a:ext cx="36576" cy="326898"/>
          </a:xfrm>
          <a:prstGeom prst="line">
            <a:avLst/>
          </a:prstGeom>
          <a:noFill/>
          <a:ln w="12700">
            <a:solidFill>
              <a:srgbClr val="6B7A93"/>
            </a:solidFill>
            <a:prstDash val="solid"/>
          </a:ln>
        </p:spPr>
      </p:sp>
      <p:sp>
        <p:nvSpPr>
          <p:cNvPr id="32" name="Shape 30"/>
          <p:cNvSpPr/>
          <p:nvPr/>
        </p:nvSpPr>
        <p:spPr>
          <a:xfrm flipH="1">
            <a:off x="10164672" y="1936242"/>
            <a:ext cx="36576" cy="326898"/>
          </a:xfrm>
          <a:prstGeom prst="line">
            <a:avLst/>
          </a:prstGeom>
          <a:noFill/>
          <a:ln w="12700">
            <a:solidFill>
              <a:srgbClr val="6B7A93"/>
            </a:solidFill>
            <a:prstDash val="solid"/>
          </a:ln>
        </p:spPr>
      </p:sp>
      <p:sp>
        <p:nvSpPr>
          <p:cNvPr id="33" name="Shape 31"/>
          <p:cNvSpPr/>
          <p:nvPr/>
        </p:nvSpPr>
        <p:spPr>
          <a:xfrm flipH="1">
            <a:off x="10460855" y="2441448"/>
            <a:ext cx="36576" cy="326898"/>
          </a:xfrm>
          <a:prstGeom prst="line">
            <a:avLst/>
          </a:prstGeom>
          <a:noFill/>
          <a:ln w="12700">
            <a:solidFill>
              <a:srgbClr val="6B7A93"/>
            </a:solidFill>
            <a:prstDash val="solid"/>
          </a:ln>
        </p:spPr>
      </p:sp>
      <p:sp>
        <p:nvSpPr>
          <p:cNvPr id="34" name="Shape 32"/>
          <p:cNvSpPr/>
          <p:nvPr/>
        </p:nvSpPr>
        <p:spPr>
          <a:xfrm flipH="1">
            <a:off x="10757038" y="2946654"/>
            <a:ext cx="36576" cy="326898"/>
          </a:xfrm>
          <a:prstGeom prst="line">
            <a:avLst/>
          </a:prstGeom>
          <a:noFill/>
          <a:ln w="12700">
            <a:solidFill>
              <a:srgbClr val="6B7A93"/>
            </a:solidFill>
            <a:prstDash val="solid"/>
          </a:ln>
        </p:spPr>
      </p:sp>
      <p:sp>
        <p:nvSpPr>
          <p:cNvPr id="35" name="Shape 33"/>
          <p:cNvSpPr/>
          <p:nvPr/>
        </p:nvSpPr>
        <p:spPr>
          <a:xfrm flipH="1">
            <a:off x="11053221" y="1609344"/>
            <a:ext cx="36576" cy="326898"/>
          </a:xfrm>
          <a:prstGeom prst="line">
            <a:avLst/>
          </a:prstGeom>
          <a:noFill/>
          <a:ln w="12700">
            <a:solidFill>
              <a:srgbClr val="6B7A93"/>
            </a:solidFill>
            <a:prstDash val="solid"/>
          </a:ln>
        </p:spPr>
      </p:sp>
      <p:sp>
        <p:nvSpPr>
          <p:cNvPr id="36" name="Shape 34"/>
          <p:cNvSpPr/>
          <p:nvPr/>
        </p:nvSpPr>
        <p:spPr>
          <a:xfrm>
            <a:off x="8406994" y="2798064"/>
            <a:ext cx="356616" cy="356616"/>
          </a:xfrm>
          <a:prstGeom prst="ellipse">
            <a:avLst/>
          </a:prstGeom>
          <a:solidFill>
            <a:srgbClr val="05070A"/>
          </a:solidFill>
          <a:ln w="12700">
            <a:solidFill>
              <a:srgbClr val="333333"/>
            </a:solidFill>
            <a:prstDash val="solid"/>
          </a:ln>
        </p:spPr>
      </p:sp>
      <p:sp>
        <p:nvSpPr>
          <p:cNvPr id="37" name="Shape 35"/>
          <p:cNvSpPr/>
          <p:nvPr/>
        </p:nvSpPr>
        <p:spPr>
          <a:xfrm>
            <a:off x="8276234" y="3119018"/>
            <a:ext cx="618134" cy="808330"/>
          </a:xfrm>
          <a:prstGeom prst="roundRect">
            <a:avLst>
              <a:gd name="adj" fmla="val 8876"/>
            </a:avLst>
          </a:prstGeom>
          <a:solidFill>
            <a:srgbClr val="05070A"/>
          </a:solidFill>
          <a:ln w="12700">
            <a:solidFill>
              <a:srgbClr val="333333"/>
            </a:solidFill>
            <a:prstDash val="solid"/>
          </a:ln>
        </p:spPr>
      </p:sp>
      <p:sp>
        <p:nvSpPr>
          <p:cNvPr id="38" name="Shape 36"/>
          <p:cNvSpPr/>
          <p:nvPr/>
        </p:nvSpPr>
        <p:spPr>
          <a:xfrm>
            <a:off x="7498080" y="3538728"/>
            <a:ext cx="2788920" cy="420624"/>
          </a:xfrm>
          <a:prstGeom prst="roundRect">
            <a:avLst>
              <a:gd name="adj" fmla="val 17391"/>
            </a:avLst>
          </a:prstGeom>
          <a:solidFill>
            <a:srgbClr val="05070B"/>
          </a:solidFill>
          <a:ln w="12700">
            <a:solidFill>
              <a:srgbClr val="2E3543"/>
            </a:solidFill>
            <a:prstDash val="solid"/>
          </a:ln>
        </p:spPr>
      </p:sp>
      <p:sp>
        <p:nvSpPr>
          <p:cNvPr id="39" name="Text 37"/>
          <p:cNvSpPr txBox="1"/>
          <p:nvPr/>
        </p:nvSpPr>
        <p:spPr>
          <a:xfrm>
            <a:off x="7571232" y="3538728"/>
            <a:ext cx="2642616" cy="420624"/>
          </a:xfrm>
          <a:prstGeom prst="rect">
            <a:avLst/>
          </a:prstGeom>
          <a:noFill/>
          <a:ln/>
        </p:spPr>
        <p:txBody>
          <a:bodyPr wrap="square" lIns="0" tIns="0" rIns="0" bIns="0" rtlCol="0" anchor="ctr"/>
          <a:lstStyle/>
          <a:p>
            <a:pPr algn="ctr" indent="0" marL="0">
              <a:buNone/>
            </a:pPr>
            <a:r>
              <a:rPr lang="en-US" sz="1300" dirty="0">
                <a:solidFill>
                  <a:srgbClr val="F4F6FA"/>
                </a:solidFill>
                <a:latin typeface="Arial" pitchFamily="34" charset="0"/>
                <a:ea typeface="Arial" pitchFamily="34" charset="-122"/>
                <a:cs typeface="Arial" pitchFamily="34" charset="-120"/>
              </a:rPr>
              <a:t>[distant thunder rolls]</a:t>
            </a:r>
            <a:endParaRPr lang="en-US" sz="1300" dirty="0"/>
          </a:p>
        </p:txBody>
      </p:sp>
      <p:sp>
        <p:nvSpPr>
          <p:cNvPr id="40" name="Shape 38"/>
          <p:cNvSpPr/>
          <p:nvPr/>
        </p:nvSpPr>
        <p:spPr>
          <a:xfrm>
            <a:off x="6464808" y="4480560"/>
            <a:ext cx="4855464" cy="64008"/>
          </a:xfrm>
          <a:prstGeom prst="roundRect">
            <a:avLst>
              <a:gd name="adj" fmla="val 42857"/>
            </a:avLst>
          </a:prstGeom>
          <a:solidFill>
            <a:srgbClr val="39404E"/>
          </a:solidFill>
          <a:ln w="12700">
            <a:solidFill>
              <a:srgbClr val="333333"/>
            </a:solidFill>
            <a:prstDash val="solid"/>
          </a:ln>
        </p:spPr>
      </p:sp>
      <p:sp>
        <p:nvSpPr>
          <p:cNvPr id="41" name="Shape 39"/>
          <p:cNvSpPr/>
          <p:nvPr/>
        </p:nvSpPr>
        <p:spPr>
          <a:xfrm>
            <a:off x="6464808" y="4480560"/>
            <a:ext cx="2039295" cy="64008"/>
          </a:xfrm>
          <a:prstGeom prst="roundRect">
            <a:avLst>
              <a:gd name="adj" fmla="val 42857"/>
            </a:avLst>
          </a:prstGeom>
          <a:solidFill>
            <a:srgbClr val="F0B429"/>
          </a:solidFill>
          <a:ln w="12700">
            <a:solidFill>
              <a:srgbClr val="333333"/>
            </a:solidFill>
            <a:prstDash val="solid"/>
          </a:ln>
        </p:spPr>
      </p:sp>
      <p:sp>
        <p:nvSpPr>
          <p:cNvPr id="42" name="Shape 40"/>
          <p:cNvSpPr/>
          <p:nvPr/>
        </p:nvSpPr>
        <p:spPr>
          <a:xfrm>
            <a:off x="8440095" y="4448556"/>
            <a:ext cx="128016" cy="128016"/>
          </a:xfrm>
          <a:prstGeom prst="ellipse">
            <a:avLst/>
          </a:prstGeom>
          <a:solidFill>
            <a:srgbClr val="F0B429"/>
          </a:solidFill>
          <a:ln w="12700">
            <a:solidFill>
              <a:srgbClr val="333333"/>
            </a:solidFill>
            <a:prstDash val="solid"/>
          </a:ln>
        </p:spPr>
      </p:sp>
      <p:sp>
        <p:nvSpPr>
          <p:cNvPr id="43" name="Shape 41"/>
          <p:cNvSpPr/>
          <p:nvPr/>
        </p:nvSpPr>
        <p:spPr>
          <a:xfrm rot="5400000">
            <a:off x="6464808" y="4718304"/>
            <a:ext cx="146304" cy="164592"/>
          </a:xfrm>
          <a:prstGeom prst="triangle">
            <a:avLst/>
          </a:prstGeom>
          <a:solidFill>
            <a:srgbClr val="F4F6FA"/>
          </a:solidFill>
          <a:ln w="12700">
            <a:solidFill>
              <a:srgbClr val="333333"/>
            </a:solidFill>
            <a:prstDash val="solid"/>
          </a:ln>
        </p:spPr>
      </p:sp>
      <p:sp>
        <p:nvSpPr>
          <p:cNvPr id="44" name="Shape 42"/>
          <p:cNvSpPr/>
          <p:nvPr/>
        </p:nvSpPr>
        <p:spPr>
          <a:xfrm>
            <a:off x="6739128" y="4727448"/>
            <a:ext cx="45720" cy="146304"/>
          </a:xfrm>
          <a:prstGeom prst="rect">
            <a:avLst/>
          </a:prstGeom>
          <a:solidFill>
            <a:srgbClr val="9AA3B4"/>
          </a:solidFill>
          <a:ln w="12700">
            <a:solidFill>
              <a:srgbClr val="333333"/>
            </a:solidFill>
            <a:prstDash val="solid"/>
          </a:ln>
        </p:spPr>
      </p:sp>
      <p:sp>
        <p:nvSpPr>
          <p:cNvPr id="45" name="Shape 43"/>
          <p:cNvSpPr/>
          <p:nvPr/>
        </p:nvSpPr>
        <p:spPr>
          <a:xfrm>
            <a:off x="6821424" y="4727448"/>
            <a:ext cx="45720" cy="146304"/>
          </a:xfrm>
          <a:prstGeom prst="rect">
            <a:avLst/>
          </a:prstGeom>
          <a:solidFill>
            <a:srgbClr val="9AA3B4"/>
          </a:solidFill>
          <a:ln w="12700">
            <a:solidFill>
              <a:srgbClr val="333333"/>
            </a:solidFill>
            <a:prstDash val="solid"/>
          </a:ln>
        </p:spPr>
      </p:sp>
      <p:sp>
        <p:nvSpPr>
          <p:cNvPr id="46" name="Text 44"/>
          <p:cNvSpPr txBox="1"/>
          <p:nvPr/>
        </p:nvSpPr>
        <p:spPr>
          <a:xfrm>
            <a:off x="9491472" y="4681728"/>
            <a:ext cx="1828800" cy="256032"/>
          </a:xfrm>
          <a:prstGeom prst="rect">
            <a:avLst/>
          </a:prstGeom>
          <a:noFill/>
          <a:ln/>
        </p:spPr>
        <p:txBody>
          <a:bodyPr wrap="square" lIns="0" tIns="0" rIns="0" bIns="0" rtlCol="0" anchor="ctr"/>
          <a:lstStyle/>
          <a:p>
            <a:pPr algn="r" indent="0" marL="0">
              <a:buNone/>
            </a:pPr>
            <a:r>
              <a:rPr lang="en-US" sz="900" dirty="0">
                <a:solidFill>
                  <a:srgbClr val="6C7585"/>
                </a:solidFill>
                <a:latin typeface="Arial" pitchFamily="34" charset="0"/>
                <a:ea typeface="Arial" pitchFamily="34" charset="-122"/>
                <a:cs typeface="Arial" pitchFamily="34" charset="-120"/>
              </a:rPr>
              <a:t>00:12:41 / 00:24:30</a:t>
            </a:r>
            <a:endParaRPr lang="en-US" sz="900" dirty="0"/>
          </a:p>
        </p:txBody>
      </p:sp>
      <p:sp>
        <p:nvSpPr>
          <p:cNvPr id="47" name="Text 45"/>
          <p:cNvSpPr txBox="1"/>
          <p:nvPr/>
        </p:nvSpPr>
        <p:spPr>
          <a:xfrm>
            <a:off x="6464808" y="4965192"/>
            <a:ext cx="4855464" cy="274320"/>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SceneCaptions player  ·  concept mockup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p:bgPr>
    </p:bg>
    <p:spTree>
      <p:nvGrpSpPr>
        <p:cNvPr id="1" name=""/>
        <p:cNvGrpSpPr/>
        <p:nvPr/>
      </p:nvGrpSpPr>
      <p:grpSpPr>
        <a:xfrm>
          <a:off x="0" y="0"/>
          <a:ext cx="0" cy="0"/>
          <a:chOff x="0" y="0"/>
          <a:chExt cx="0" cy="0"/>
        </a:xfrm>
      </p:grpSpPr>
      <p:sp>
        <p:nvSpPr>
          <p:cNvPr id="2" name="Text 0"/>
          <p:cNvSpPr txBox="1"/>
          <p:nvPr/>
        </p:nvSpPr>
        <p:spPr>
          <a:xfrm>
            <a:off x="594360" y="384048"/>
            <a:ext cx="10881360" cy="685800"/>
          </a:xfrm>
          <a:prstGeom prst="rect">
            <a:avLst/>
          </a:prstGeom>
          <a:noFill/>
          <a:ln/>
        </p:spPr>
        <p:txBody>
          <a:bodyPr wrap="square" lIns="0" tIns="0" rIns="0" bIns="0" rtlCol="0" anchor="ctr"/>
          <a:lstStyle/>
          <a:p>
            <a:pPr algn="l" indent="0" marL="0">
              <a:buNone/>
            </a:pPr>
            <a:r>
              <a:rPr lang="en-US" sz="3400" b="1" dirty="0">
                <a:solidFill>
                  <a:srgbClr val="F4F6FA"/>
                </a:solidFill>
                <a:latin typeface="Arial" pitchFamily="34" charset="0"/>
                <a:ea typeface="Arial" pitchFamily="34" charset="-122"/>
                <a:cs typeface="Arial" pitchFamily="34" charset="-120"/>
              </a:rPr>
              <a:t>One caption doesn't fit everyone</a:t>
            </a:r>
            <a:endParaRPr lang="en-US" sz="3400" dirty="0"/>
          </a:p>
        </p:txBody>
      </p:sp>
      <p:sp>
        <p:nvSpPr>
          <p:cNvPr id="3" name="Shape 1"/>
          <p:cNvSpPr/>
          <p:nvPr/>
        </p:nvSpPr>
        <p:spPr>
          <a:xfrm>
            <a:off x="594360" y="1234440"/>
            <a:ext cx="4434840" cy="3200400"/>
          </a:xfrm>
          <a:prstGeom prst="roundRect">
            <a:avLst>
              <a:gd name="adj" fmla="val 4000"/>
            </a:avLst>
          </a:prstGeom>
          <a:solidFill>
            <a:srgbClr val="161A22"/>
          </a:solidFill>
          <a:ln w="12700">
            <a:solidFill>
              <a:srgbClr val="2E3543"/>
            </a:solidFill>
            <a:prstDash val="solid"/>
          </a:ln>
        </p:spPr>
      </p:sp>
      <p:sp>
        <p:nvSpPr>
          <p:cNvPr id="4" name="Shape 2"/>
          <p:cNvSpPr/>
          <p:nvPr/>
        </p:nvSpPr>
        <p:spPr>
          <a:xfrm>
            <a:off x="758952" y="1399032"/>
            <a:ext cx="4105656" cy="2331720"/>
          </a:xfrm>
          <a:prstGeom prst="rect">
            <a:avLst/>
          </a:prstGeom>
          <a:solidFill>
            <a:srgbClr val="0E1219"/>
          </a:solidFill>
          <a:ln w="12700">
            <a:solidFill>
              <a:srgbClr val="333333"/>
            </a:solidFill>
            <a:prstDash val="solid"/>
          </a:ln>
        </p:spPr>
      </p:sp>
      <p:sp>
        <p:nvSpPr>
          <p:cNvPr id="5" name="Shape 3"/>
          <p:cNvSpPr/>
          <p:nvPr/>
        </p:nvSpPr>
        <p:spPr>
          <a:xfrm>
            <a:off x="758952" y="1399032"/>
            <a:ext cx="4105656" cy="1352398"/>
          </a:xfrm>
          <a:prstGeom prst="rect">
            <a:avLst/>
          </a:prstGeom>
          <a:solidFill>
            <a:srgbClr val="141B27"/>
          </a:solidFill>
          <a:ln w="12700">
            <a:solidFill>
              <a:srgbClr val="333333"/>
            </a:solidFill>
            <a:prstDash val="solid"/>
          </a:ln>
        </p:spPr>
      </p:sp>
      <p:sp>
        <p:nvSpPr>
          <p:cNvPr id="6" name="Shape 4"/>
          <p:cNvSpPr/>
          <p:nvPr/>
        </p:nvSpPr>
        <p:spPr>
          <a:xfrm>
            <a:off x="3715024" y="1678838"/>
            <a:ext cx="396392" cy="396392"/>
          </a:xfrm>
          <a:prstGeom prst="ellipse">
            <a:avLst/>
          </a:prstGeom>
          <a:solidFill>
            <a:srgbClr val="D9DEE8"/>
          </a:solidFill>
          <a:ln w="12700">
            <a:solidFill>
              <a:srgbClr val="333333"/>
            </a:solidFill>
            <a:prstDash val="solid"/>
          </a:ln>
        </p:spPr>
      </p:sp>
      <p:sp>
        <p:nvSpPr>
          <p:cNvPr id="7" name="Shape 5"/>
          <p:cNvSpPr/>
          <p:nvPr/>
        </p:nvSpPr>
        <p:spPr>
          <a:xfrm>
            <a:off x="1005291" y="2378354"/>
            <a:ext cx="266868" cy="373075"/>
          </a:xfrm>
          <a:prstGeom prst="rect">
            <a:avLst/>
          </a:prstGeom>
          <a:solidFill>
            <a:srgbClr val="0A0E15"/>
          </a:solidFill>
          <a:ln w="12700">
            <a:solidFill>
              <a:srgbClr val="333333"/>
            </a:solidFill>
            <a:prstDash val="solid"/>
          </a:ln>
        </p:spPr>
      </p:sp>
      <p:sp>
        <p:nvSpPr>
          <p:cNvPr id="8" name="Shape 6"/>
          <p:cNvSpPr/>
          <p:nvPr/>
        </p:nvSpPr>
        <p:spPr>
          <a:xfrm>
            <a:off x="1333744" y="2168500"/>
            <a:ext cx="266868" cy="582930"/>
          </a:xfrm>
          <a:prstGeom prst="rect">
            <a:avLst/>
          </a:prstGeom>
          <a:solidFill>
            <a:srgbClr val="0A0E15"/>
          </a:solidFill>
          <a:ln w="12700">
            <a:solidFill>
              <a:srgbClr val="333333"/>
            </a:solidFill>
            <a:prstDash val="solid"/>
          </a:ln>
        </p:spPr>
      </p:sp>
      <p:sp>
        <p:nvSpPr>
          <p:cNvPr id="9" name="Shape 7"/>
          <p:cNvSpPr/>
          <p:nvPr/>
        </p:nvSpPr>
        <p:spPr>
          <a:xfrm>
            <a:off x="1621140" y="2471623"/>
            <a:ext cx="266868" cy="279806"/>
          </a:xfrm>
          <a:prstGeom prst="rect">
            <a:avLst/>
          </a:prstGeom>
          <a:solidFill>
            <a:srgbClr val="0A0E15"/>
          </a:solidFill>
          <a:ln w="12700">
            <a:solidFill>
              <a:srgbClr val="333333"/>
            </a:solidFill>
            <a:prstDash val="solid"/>
          </a:ln>
        </p:spPr>
      </p:sp>
      <p:sp>
        <p:nvSpPr>
          <p:cNvPr id="10" name="Shape 8"/>
          <p:cNvSpPr/>
          <p:nvPr/>
        </p:nvSpPr>
        <p:spPr>
          <a:xfrm>
            <a:off x="1990649" y="2051914"/>
            <a:ext cx="266868" cy="699516"/>
          </a:xfrm>
          <a:prstGeom prst="rect">
            <a:avLst/>
          </a:prstGeom>
          <a:solidFill>
            <a:srgbClr val="0A0E15"/>
          </a:solidFill>
          <a:ln w="12700">
            <a:solidFill>
              <a:srgbClr val="333333"/>
            </a:solidFill>
            <a:prstDash val="solid"/>
          </a:ln>
        </p:spPr>
      </p:sp>
      <p:sp>
        <p:nvSpPr>
          <p:cNvPr id="11" name="Shape 9"/>
          <p:cNvSpPr/>
          <p:nvPr/>
        </p:nvSpPr>
        <p:spPr>
          <a:xfrm>
            <a:off x="2401214" y="2331720"/>
            <a:ext cx="266868" cy="419710"/>
          </a:xfrm>
          <a:prstGeom prst="rect">
            <a:avLst/>
          </a:prstGeom>
          <a:solidFill>
            <a:srgbClr val="0A0E15"/>
          </a:solidFill>
          <a:ln w="12700">
            <a:solidFill>
              <a:srgbClr val="333333"/>
            </a:solidFill>
            <a:prstDash val="solid"/>
          </a:ln>
        </p:spPr>
      </p:sp>
      <p:sp>
        <p:nvSpPr>
          <p:cNvPr id="12" name="Shape 10"/>
          <p:cNvSpPr/>
          <p:nvPr/>
        </p:nvSpPr>
        <p:spPr>
          <a:xfrm>
            <a:off x="2893893" y="2238451"/>
            <a:ext cx="266868" cy="512978"/>
          </a:xfrm>
          <a:prstGeom prst="rect">
            <a:avLst/>
          </a:prstGeom>
          <a:solidFill>
            <a:srgbClr val="0A0E15"/>
          </a:solidFill>
          <a:ln w="12700">
            <a:solidFill>
              <a:srgbClr val="333333"/>
            </a:solidFill>
            <a:prstDash val="solid"/>
          </a:ln>
        </p:spPr>
      </p:sp>
      <p:sp>
        <p:nvSpPr>
          <p:cNvPr id="13" name="Shape 11"/>
          <p:cNvSpPr/>
          <p:nvPr/>
        </p:nvSpPr>
        <p:spPr>
          <a:xfrm>
            <a:off x="3222346" y="2448306"/>
            <a:ext cx="266868" cy="303124"/>
          </a:xfrm>
          <a:prstGeom prst="rect">
            <a:avLst/>
          </a:prstGeom>
          <a:solidFill>
            <a:srgbClr val="0A0E15"/>
          </a:solidFill>
          <a:ln w="12700">
            <a:solidFill>
              <a:srgbClr val="333333"/>
            </a:solidFill>
            <a:prstDash val="solid"/>
          </a:ln>
        </p:spPr>
      </p:sp>
      <p:sp>
        <p:nvSpPr>
          <p:cNvPr id="14" name="Shape 12"/>
          <p:cNvSpPr/>
          <p:nvPr/>
        </p:nvSpPr>
        <p:spPr>
          <a:xfrm>
            <a:off x="758952" y="2751430"/>
            <a:ext cx="4105656" cy="979322"/>
          </a:xfrm>
          <a:prstGeom prst="rect">
            <a:avLst/>
          </a:prstGeom>
          <a:solidFill>
            <a:srgbClr val="0A0D13"/>
          </a:solidFill>
          <a:ln w="12700">
            <a:solidFill>
              <a:srgbClr val="333333"/>
            </a:solidFill>
            <a:prstDash val="solid"/>
          </a:ln>
        </p:spPr>
      </p:sp>
      <p:sp>
        <p:nvSpPr>
          <p:cNvPr id="15" name="Shape 13"/>
          <p:cNvSpPr/>
          <p:nvPr/>
        </p:nvSpPr>
        <p:spPr>
          <a:xfrm flipH="1">
            <a:off x="882122" y="1515618"/>
            <a:ext cx="36576" cy="256489"/>
          </a:xfrm>
          <a:prstGeom prst="line">
            <a:avLst/>
          </a:prstGeom>
          <a:noFill/>
          <a:ln w="12700">
            <a:solidFill>
              <a:srgbClr val="6B7A93"/>
            </a:solidFill>
            <a:prstDash val="solid"/>
          </a:ln>
        </p:spPr>
      </p:sp>
      <p:sp>
        <p:nvSpPr>
          <p:cNvPr id="16" name="Shape 14"/>
          <p:cNvSpPr/>
          <p:nvPr/>
        </p:nvSpPr>
        <p:spPr>
          <a:xfrm flipH="1">
            <a:off x="1132567" y="1912010"/>
            <a:ext cx="36576" cy="256489"/>
          </a:xfrm>
          <a:prstGeom prst="line">
            <a:avLst/>
          </a:prstGeom>
          <a:noFill/>
          <a:ln w="12700">
            <a:solidFill>
              <a:srgbClr val="6B7A93"/>
            </a:solidFill>
            <a:prstDash val="solid"/>
          </a:ln>
        </p:spPr>
      </p:sp>
      <p:sp>
        <p:nvSpPr>
          <p:cNvPr id="17" name="Shape 15"/>
          <p:cNvSpPr/>
          <p:nvPr/>
        </p:nvSpPr>
        <p:spPr>
          <a:xfrm flipH="1">
            <a:off x="1383012" y="2308403"/>
            <a:ext cx="36576" cy="256489"/>
          </a:xfrm>
          <a:prstGeom prst="line">
            <a:avLst/>
          </a:prstGeom>
          <a:noFill/>
          <a:ln w="12700">
            <a:solidFill>
              <a:srgbClr val="6B7A93"/>
            </a:solidFill>
            <a:prstDash val="solid"/>
          </a:ln>
        </p:spPr>
      </p:sp>
      <p:sp>
        <p:nvSpPr>
          <p:cNvPr id="18" name="Shape 16"/>
          <p:cNvSpPr/>
          <p:nvPr/>
        </p:nvSpPr>
        <p:spPr>
          <a:xfrm flipH="1">
            <a:off x="1633457" y="2704795"/>
            <a:ext cx="36576" cy="256489"/>
          </a:xfrm>
          <a:prstGeom prst="line">
            <a:avLst/>
          </a:prstGeom>
          <a:noFill/>
          <a:ln w="12700">
            <a:solidFill>
              <a:srgbClr val="6B7A93"/>
            </a:solidFill>
            <a:prstDash val="solid"/>
          </a:ln>
        </p:spPr>
      </p:sp>
      <p:sp>
        <p:nvSpPr>
          <p:cNvPr id="19" name="Shape 17"/>
          <p:cNvSpPr/>
          <p:nvPr/>
        </p:nvSpPr>
        <p:spPr>
          <a:xfrm flipH="1">
            <a:off x="1883902" y="1655521"/>
            <a:ext cx="36576" cy="256489"/>
          </a:xfrm>
          <a:prstGeom prst="line">
            <a:avLst/>
          </a:prstGeom>
          <a:noFill/>
          <a:ln w="12700">
            <a:solidFill>
              <a:srgbClr val="6B7A93"/>
            </a:solidFill>
            <a:prstDash val="solid"/>
          </a:ln>
        </p:spPr>
      </p:sp>
      <p:sp>
        <p:nvSpPr>
          <p:cNvPr id="20" name="Shape 18"/>
          <p:cNvSpPr/>
          <p:nvPr/>
        </p:nvSpPr>
        <p:spPr>
          <a:xfrm flipH="1">
            <a:off x="2134347" y="2051914"/>
            <a:ext cx="36576" cy="256489"/>
          </a:xfrm>
          <a:prstGeom prst="line">
            <a:avLst/>
          </a:prstGeom>
          <a:noFill/>
          <a:ln w="12700">
            <a:solidFill>
              <a:srgbClr val="6B7A93"/>
            </a:solidFill>
            <a:prstDash val="solid"/>
          </a:ln>
        </p:spPr>
      </p:sp>
      <p:sp>
        <p:nvSpPr>
          <p:cNvPr id="21" name="Shape 19"/>
          <p:cNvSpPr/>
          <p:nvPr/>
        </p:nvSpPr>
        <p:spPr>
          <a:xfrm flipH="1">
            <a:off x="2384792" y="2448306"/>
            <a:ext cx="36576" cy="256489"/>
          </a:xfrm>
          <a:prstGeom prst="line">
            <a:avLst/>
          </a:prstGeom>
          <a:noFill/>
          <a:ln w="12700">
            <a:solidFill>
              <a:srgbClr val="6B7A93"/>
            </a:solidFill>
            <a:prstDash val="solid"/>
          </a:ln>
        </p:spPr>
      </p:sp>
      <p:sp>
        <p:nvSpPr>
          <p:cNvPr id="22" name="Shape 20"/>
          <p:cNvSpPr/>
          <p:nvPr/>
        </p:nvSpPr>
        <p:spPr>
          <a:xfrm flipH="1">
            <a:off x="2635237" y="2844698"/>
            <a:ext cx="36576" cy="256489"/>
          </a:xfrm>
          <a:prstGeom prst="line">
            <a:avLst/>
          </a:prstGeom>
          <a:noFill/>
          <a:ln w="12700">
            <a:solidFill>
              <a:srgbClr val="6B7A93"/>
            </a:solidFill>
            <a:prstDash val="solid"/>
          </a:ln>
        </p:spPr>
      </p:sp>
      <p:sp>
        <p:nvSpPr>
          <p:cNvPr id="23" name="Shape 21"/>
          <p:cNvSpPr/>
          <p:nvPr/>
        </p:nvSpPr>
        <p:spPr>
          <a:xfrm flipH="1">
            <a:off x="2885682" y="1795424"/>
            <a:ext cx="36576" cy="256489"/>
          </a:xfrm>
          <a:prstGeom prst="line">
            <a:avLst/>
          </a:prstGeom>
          <a:noFill/>
          <a:ln w="12700">
            <a:solidFill>
              <a:srgbClr val="6B7A93"/>
            </a:solidFill>
            <a:prstDash val="solid"/>
          </a:ln>
        </p:spPr>
      </p:sp>
      <p:sp>
        <p:nvSpPr>
          <p:cNvPr id="24" name="Shape 22"/>
          <p:cNvSpPr/>
          <p:nvPr/>
        </p:nvSpPr>
        <p:spPr>
          <a:xfrm flipH="1">
            <a:off x="3136127" y="2191817"/>
            <a:ext cx="36576" cy="256489"/>
          </a:xfrm>
          <a:prstGeom prst="line">
            <a:avLst/>
          </a:prstGeom>
          <a:noFill/>
          <a:ln w="12700">
            <a:solidFill>
              <a:srgbClr val="6B7A93"/>
            </a:solidFill>
            <a:prstDash val="solid"/>
          </a:ln>
        </p:spPr>
      </p:sp>
      <p:sp>
        <p:nvSpPr>
          <p:cNvPr id="25" name="Shape 23"/>
          <p:cNvSpPr/>
          <p:nvPr/>
        </p:nvSpPr>
        <p:spPr>
          <a:xfrm flipH="1">
            <a:off x="3386572" y="2588209"/>
            <a:ext cx="36576" cy="256489"/>
          </a:xfrm>
          <a:prstGeom prst="line">
            <a:avLst/>
          </a:prstGeom>
          <a:noFill/>
          <a:ln w="12700">
            <a:solidFill>
              <a:srgbClr val="6B7A93"/>
            </a:solidFill>
            <a:prstDash val="solid"/>
          </a:ln>
        </p:spPr>
      </p:sp>
      <p:sp>
        <p:nvSpPr>
          <p:cNvPr id="26" name="Shape 24"/>
          <p:cNvSpPr/>
          <p:nvPr/>
        </p:nvSpPr>
        <p:spPr>
          <a:xfrm flipH="1">
            <a:off x="3637017" y="1538935"/>
            <a:ext cx="36576" cy="256489"/>
          </a:xfrm>
          <a:prstGeom prst="line">
            <a:avLst/>
          </a:prstGeom>
          <a:noFill/>
          <a:ln w="12700">
            <a:solidFill>
              <a:srgbClr val="6B7A93"/>
            </a:solidFill>
            <a:prstDash val="solid"/>
          </a:ln>
        </p:spPr>
      </p:sp>
      <p:sp>
        <p:nvSpPr>
          <p:cNvPr id="27" name="Shape 25"/>
          <p:cNvSpPr/>
          <p:nvPr/>
        </p:nvSpPr>
        <p:spPr>
          <a:xfrm flipH="1">
            <a:off x="3887462" y="1935328"/>
            <a:ext cx="36576" cy="256489"/>
          </a:xfrm>
          <a:prstGeom prst="line">
            <a:avLst/>
          </a:prstGeom>
          <a:noFill/>
          <a:ln w="12700">
            <a:solidFill>
              <a:srgbClr val="6B7A93"/>
            </a:solidFill>
            <a:prstDash val="solid"/>
          </a:ln>
        </p:spPr>
      </p:sp>
      <p:sp>
        <p:nvSpPr>
          <p:cNvPr id="28" name="Shape 26"/>
          <p:cNvSpPr/>
          <p:nvPr/>
        </p:nvSpPr>
        <p:spPr>
          <a:xfrm flipH="1">
            <a:off x="4137907" y="2331720"/>
            <a:ext cx="36576" cy="256489"/>
          </a:xfrm>
          <a:prstGeom prst="line">
            <a:avLst/>
          </a:prstGeom>
          <a:noFill/>
          <a:ln w="12700">
            <a:solidFill>
              <a:srgbClr val="6B7A93"/>
            </a:solidFill>
            <a:prstDash val="solid"/>
          </a:ln>
        </p:spPr>
      </p:sp>
      <p:sp>
        <p:nvSpPr>
          <p:cNvPr id="29" name="Shape 27"/>
          <p:cNvSpPr/>
          <p:nvPr/>
        </p:nvSpPr>
        <p:spPr>
          <a:xfrm flipH="1">
            <a:off x="4388352" y="2728112"/>
            <a:ext cx="36576" cy="256489"/>
          </a:xfrm>
          <a:prstGeom prst="line">
            <a:avLst/>
          </a:prstGeom>
          <a:noFill/>
          <a:ln w="12700">
            <a:solidFill>
              <a:srgbClr val="6B7A93"/>
            </a:solidFill>
            <a:prstDash val="solid"/>
          </a:ln>
        </p:spPr>
      </p:sp>
      <p:sp>
        <p:nvSpPr>
          <p:cNvPr id="30" name="Shape 28"/>
          <p:cNvSpPr/>
          <p:nvPr/>
        </p:nvSpPr>
        <p:spPr>
          <a:xfrm flipH="1">
            <a:off x="4638797" y="1678838"/>
            <a:ext cx="36576" cy="256489"/>
          </a:xfrm>
          <a:prstGeom prst="line">
            <a:avLst/>
          </a:prstGeom>
          <a:noFill/>
          <a:ln w="12700">
            <a:solidFill>
              <a:srgbClr val="6B7A93"/>
            </a:solidFill>
            <a:prstDash val="solid"/>
          </a:ln>
        </p:spPr>
      </p:sp>
      <p:sp>
        <p:nvSpPr>
          <p:cNvPr id="31" name="Shape 29"/>
          <p:cNvSpPr/>
          <p:nvPr/>
        </p:nvSpPr>
        <p:spPr>
          <a:xfrm>
            <a:off x="1417320" y="2834640"/>
            <a:ext cx="2788920" cy="365760"/>
          </a:xfrm>
          <a:prstGeom prst="roundRect">
            <a:avLst>
              <a:gd name="adj" fmla="val 20000"/>
            </a:avLst>
          </a:prstGeom>
          <a:solidFill>
            <a:srgbClr val="05070B"/>
          </a:solidFill>
          <a:ln w="12700">
            <a:solidFill>
              <a:srgbClr val="2E3543"/>
            </a:solidFill>
            <a:prstDash val="solid"/>
          </a:ln>
        </p:spPr>
      </p:sp>
      <p:sp>
        <p:nvSpPr>
          <p:cNvPr id="32" name="Text 30"/>
          <p:cNvSpPr txBox="1"/>
          <p:nvPr/>
        </p:nvSpPr>
        <p:spPr>
          <a:xfrm>
            <a:off x="1490472" y="2834640"/>
            <a:ext cx="2642616" cy="365760"/>
          </a:xfrm>
          <a:prstGeom prst="rect">
            <a:avLst/>
          </a:prstGeom>
          <a:noFill/>
          <a:ln/>
        </p:spPr>
        <p:txBody>
          <a:bodyPr wrap="square" lIns="0" tIns="0" rIns="0" bIns="0" rtlCol="0" anchor="ctr"/>
          <a:lstStyle/>
          <a:p>
            <a:pPr algn="ctr" indent="0" marL="0">
              <a:buNone/>
            </a:pPr>
            <a:r>
              <a:rPr lang="en-US" sz="1300" dirty="0">
                <a:solidFill>
                  <a:srgbClr val="F0B429"/>
                </a:solidFill>
                <a:latin typeface="Arial" pitchFamily="34" charset="0"/>
                <a:ea typeface="Arial" pitchFamily="34" charset="-122"/>
                <a:cs typeface="Arial" pitchFamily="34" charset="-120"/>
              </a:rPr>
              <a:t>[ ? ]</a:t>
            </a:r>
            <a:endParaRPr lang="en-US" sz="1300" dirty="0"/>
          </a:p>
        </p:txBody>
      </p:sp>
      <p:sp>
        <p:nvSpPr>
          <p:cNvPr id="33" name="Text 31"/>
          <p:cNvSpPr txBox="1"/>
          <p:nvPr/>
        </p:nvSpPr>
        <p:spPr>
          <a:xfrm>
            <a:off x="758952" y="3813048"/>
            <a:ext cx="4105656" cy="411480"/>
          </a:xfrm>
          <a:prstGeom prst="rect">
            <a:avLst/>
          </a:prstGeom>
          <a:noFill/>
          <a:ln/>
        </p:spPr>
        <p:txBody>
          <a:bodyPr wrap="square" lIns="0" tIns="0" rIns="0" bIns="0" rtlCol="0" anchor="ctr"/>
          <a:lstStyle/>
          <a:p>
            <a:pPr indent="0" marL="0">
              <a:buNone/>
            </a:pPr>
            <a:r>
              <a:rPr lang="en-US" sz="1300" b="1" dirty="0">
                <a:solidFill>
                  <a:srgbClr val="F4F6FA"/>
                </a:solidFill>
                <a:latin typeface="Arial" pitchFamily="34" charset="0"/>
                <a:ea typeface="Arial" pitchFamily="34" charset="-122"/>
                <a:cs typeface="Arial" pitchFamily="34" charset="-120"/>
              </a:rPr>
              <a:t>One scene.  One sound.</a:t>
            </a:r>
            <a:endParaRPr lang="en-US" sz="1300" dirty="0"/>
          </a:p>
        </p:txBody>
      </p:sp>
      <p:sp>
        <p:nvSpPr>
          <p:cNvPr id="34" name="Shape 32"/>
          <p:cNvSpPr/>
          <p:nvPr/>
        </p:nvSpPr>
        <p:spPr>
          <a:xfrm>
            <a:off x="5440680" y="1234440"/>
            <a:ext cx="6080760" cy="932688"/>
          </a:xfrm>
          <a:prstGeom prst="roundRect">
            <a:avLst>
              <a:gd name="adj" fmla="val 11765"/>
            </a:avLst>
          </a:prstGeom>
          <a:solidFill>
            <a:srgbClr val="161A22"/>
          </a:solidFill>
          <a:ln w="12700">
            <a:solidFill>
              <a:srgbClr val="2E3543"/>
            </a:solidFill>
            <a:prstDash val="solid"/>
          </a:ln>
        </p:spPr>
      </p:sp>
      <p:sp>
        <p:nvSpPr>
          <p:cNvPr id="35" name="Text 33"/>
          <p:cNvSpPr txBox="1"/>
          <p:nvPr/>
        </p:nvSpPr>
        <p:spPr>
          <a:xfrm>
            <a:off x="5669280" y="1344168"/>
            <a:ext cx="2011680" cy="237744"/>
          </a:xfrm>
          <a:prstGeom prst="rect">
            <a:avLst/>
          </a:prstGeom>
          <a:noFill/>
          <a:ln/>
        </p:spPr>
        <p:txBody>
          <a:bodyPr wrap="square" lIns="0" tIns="0" rIns="0" bIns="0" rtlCol="0" anchor="ctr"/>
          <a:lstStyle/>
          <a:p>
            <a:pPr indent="0" marL="0">
              <a:buNone/>
            </a:pPr>
            <a:r>
              <a:rPr lang="en-US" sz="950" b="1" spc="140" kern="0" dirty="0">
                <a:solidFill>
                  <a:srgbClr val="F0B429"/>
                </a:solidFill>
                <a:latin typeface="Arial" pitchFamily="34" charset="0"/>
                <a:ea typeface="Arial" pitchFamily="34" charset="-122"/>
                <a:cs typeface="Arial" pitchFamily="34" charset="-120"/>
              </a:rPr>
              <a:t>BASIC</a:t>
            </a:r>
            <a:endParaRPr lang="en-US" sz="950" dirty="0"/>
          </a:p>
        </p:txBody>
      </p:sp>
      <p:sp>
        <p:nvSpPr>
          <p:cNvPr id="36" name="Shape 34"/>
          <p:cNvSpPr/>
          <p:nvPr/>
        </p:nvSpPr>
        <p:spPr>
          <a:xfrm>
            <a:off x="9235440" y="1408176"/>
            <a:ext cx="2057400" cy="109728"/>
          </a:xfrm>
          <a:prstGeom prst="roundRect">
            <a:avLst>
              <a:gd name="adj" fmla="val 50000"/>
            </a:avLst>
          </a:prstGeom>
          <a:solidFill>
            <a:srgbClr val="2B313D"/>
          </a:solidFill>
          <a:ln w="12700">
            <a:solidFill>
              <a:srgbClr val="333333"/>
            </a:solidFill>
            <a:prstDash val="solid"/>
          </a:ln>
        </p:spPr>
      </p:sp>
      <p:sp>
        <p:nvSpPr>
          <p:cNvPr id="37" name="Shape 35"/>
          <p:cNvSpPr/>
          <p:nvPr/>
        </p:nvSpPr>
        <p:spPr>
          <a:xfrm>
            <a:off x="9235440" y="1408176"/>
            <a:ext cx="452628" cy="109728"/>
          </a:xfrm>
          <a:prstGeom prst="roundRect">
            <a:avLst>
              <a:gd name="adj" fmla="val 50000"/>
            </a:avLst>
          </a:prstGeom>
          <a:solidFill>
            <a:srgbClr val="F0B429"/>
          </a:solidFill>
          <a:ln w="12700">
            <a:solidFill>
              <a:srgbClr val="333333"/>
            </a:solidFill>
            <a:prstDash val="solid"/>
          </a:ln>
        </p:spPr>
      </p:sp>
      <p:sp>
        <p:nvSpPr>
          <p:cNvPr id="38" name="Text 36"/>
          <p:cNvSpPr txBox="1"/>
          <p:nvPr/>
        </p:nvSpPr>
        <p:spPr>
          <a:xfrm>
            <a:off x="5669280" y="1636776"/>
            <a:ext cx="5623560" cy="411480"/>
          </a:xfrm>
          <a:prstGeom prst="rect">
            <a:avLst/>
          </a:prstGeom>
          <a:noFill/>
          <a:ln/>
        </p:spPr>
        <p:txBody>
          <a:bodyPr wrap="square" lIns="0" tIns="0" rIns="0" bIns="0" rtlCol="0" anchor="ctr"/>
          <a:lstStyle/>
          <a:p>
            <a:pPr indent="0" marL="0">
              <a:buNone/>
            </a:pPr>
            <a:r>
              <a:rPr lang="en-US" sz="1500" dirty="0">
                <a:solidFill>
                  <a:srgbClr val="F4F6FA"/>
                </a:solidFill>
                <a:latin typeface="Arial" pitchFamily="34" charset="0"/>
                <a:ea typeface="Arial" pitchFamily="34" charset="-122"/>
                <a:cs typeface="Arial" pitchFamily="34" charset="-120"/>
              </a:rPr>
              <a:t>[music]</a:t>
            </a:r>
            <a:endParaRPr lang="en-US" sz="1500" dirty="0"/>
          </a:p>
        </p:txBody>
      </p:sp>
      <p:sp>
        <p:nvSpPr>
          <p:cNvPr id="39" name="Shape 37"/>
          <p:cNvSpPr/>
          <p:nvPr/>
        </p:nvSpPr>
        <p:spPr>
          <a:xfrm>
            <a:off x="5440680" y="2350008"/>
            <a:ext cx="6080760" cy="932688"/>
          </a:xfrm>
          <a:prstGeom prst="roundRect">
            <a:avLst>
              <a:gd name="adj" fmla="val 11765"/>
            </a:avLst>
          </a:prstGeom>
          <a:solidFill>
            <a:srgbClr val="161A22"/>
          </a:solidFill>
          <a:ln w="12700">
            <a:solidFill>
              <a:srgbClr val="2E3543"/>
            </a:solidFill>
            <a:prstDash val="solid"/>
          </a:ln>
        </p:spPr>
      </p:sp>
      <p:sp>
        <p:nvSpPr>
          <p:cNvPr id="40" name="Text 38"/>
          <p:cNvSpPr txBox="1"/>
          <p:nvPr/>
        </p:nvSpPr>
        <p:spPr>
          <a:xfrm>
            <a:off x="5669280" y="2459736"/>
            <a:ext cx="2011680" cy="237744"/>
          </a:xfrm>
          <a:prstGeom prst="rect">
            <a:avLst/>
          </a:prstGeom>
          <a:noFill/>
          <a:ln/>
        </p:spPr>
        <p:txBody>
          <a:bodyPr wrap="square" lIns="0" tIns="0" rIns="0" bIns="0" rtlCol="0" anchor="ctr"/>
          <a:lstStyle/>
          <a:p>
            <a:pPr indent="0" marL="0">
              <a:buNone/>
            </a:pPr>
            <a:r>
              <a:rPr lang="en-US" sz="950" b="1" spc="140" kern="0" dirty="0">
                <a:solidFill>
                  <a:srgbClr val="F0B429"/>
                </a:solidFill>
                <a:latin typeface="Arial" pitchFamily="34" charset="0"/>
                <a:ea typeface="Arial" pitchFamily="34" charset="-122"/>
                <a:cs typeface="Arial" pitchFamily="34" charset="-120"/>
              </a:rPr>
              <a:t>CONCISE</a:t>
            </a:r>
            <a:endParaRPr lang="en-US" sz="950" dirty="0"/>
          </a:p>
        </p:txBody>
      </p:sp>
      <p:sp>
        <p:nvSpPr>
          <p:cNvPr id="41" name="Shape 39"/>
          <p:cNvSpPr/>
          <p:nvPr/>
        </p:nvSpPr>
        <p:spPr>
          <a:xfrm>
            <a:off x="9235440" y="2523744"/>
            <a:ext cx="2057400" cy="109728"/>
          </a:xfrm>
          <a:prstGeom prst="roundRect">
            <a:avLst>
              <a:gd name="adj" fmla="val 50000"/>
            </a:avLst>
          </a:prstGeom>
          <a:solidFill>
            <a:srgbClr val="2B313D"/>
          </a:solidFill>
          <a:ln w="12700">
            <a:solidFill>
              <a:srgbClr val="333333"/>
            </a:solidFill>
            <a:prstDash val="solid"/>
          </a:ln>
        </p:spPr>
      </p:sp>
      <p:sp>
        <p:nvSpPr>
          <p:cNvPr id="42" name="Shape 40"/>
          <p:cNvSpPr/>
          <p:nvPr/>
        </p:nvSpPr>
        <p:spPr>
          <a:xfrm>
            <a:off x="9235440" y="2523744"/>
            <a:ext cx="864108" cy="109728"/>
          </a:xfrm>
          <a:prstGeom prst="roundRect">
            <a:avLst>
              <a:gd name="adj" fmla="val 50000"/>
            </a:avLst>
          </a:prstGeom>
          <a:solidFill>
            <a:srgbClr val="F0B429"/>
          </a:solidFill>
          <a:ln w="12700">
            <a:solidFill>
              <a:srgbClr val="333333"/>
            </a:solidFill>
            <a:prstDash val="solid"/>
          </a:ln>
        </p:spPr>
      </p:sp>
      <p:sp>
        <p:nvSpPr>
          <p:cNvPr id="43" name="Text 41"/>
          <p:cNvSpPr txBox="1"/>
          <p:nvPr/>
        </p:nvSpPr>
        <p:spPr>
          <a:xfrm>
            <a:off x="5669280" y="2752344"/>
            <a:ext cx="5623560" cy="411480"/>
          </a:xfrm>
          <a:prstGeom prst="rect">
            <a:avLst/>
          </a:prstGeom>
          <a:noFill/>
          <a:ln/>
        </p:spPr>
        <p:txBody>
          <a:bodyPr wrap="square" lIns="0" tIns="0" rIns="0" bIns="0" rtlCol="0" anchor="ctr"/>
          <a:lstStyle/>
          <a:p>
            <a:pPr indent="0" marL="0">
              <a:buNone/>
            </a:pPr>
            <a:r>
              <a:rPr lang="en-US" sz="1500" dirty="0">
                <a:solidFill>
                  <a:srgbClr val="F4F6FA"/>
                </a:solidFill>
                <a:latin typeface="Arial" pitchFamily="34" charset="0"/>
                <a:ea typeface="Arial" pitchFamily="34" charset="-122"/>
                <a:cs typeface="Arial" pitchFamily="34" charset="-120"/>
              </a:rPr>
              <a:t>[tense music]</a:t>
            </a:r>
            <a:endParaRPr lang="en-US" sz="1500" dirty="0"/>
          </a:p>
        </p:txBody>
      </p:sp>
      <p:sp>
        <p:nvSpPr>
          <p:cNvPr id="44" name="Shape 42"/>
          <p:cNvSpPr/>
          <p:nvPr/>
        </p:nvSpPr>
        <p:spPr>
          <a:xfrm>
            <a:off x="5440680" y="3465576"/>
            <a:ext cx="6080760" cy="932688"/>
          </a:xfrm>
          <a:prstGeom prst="roundRect">
            <a:avLst>
              <a:gd name="adj" fmla="val 11765"/>
            </a:avLst>
          </a:prstGeom>
          <a:solidFill>
            <a:srgbClr val="161A22"/>
          </a:solidFill>
          <a:ln w="12700">
            <a:solidFill>
              <a:srgbClr val="2E3543"/>
            </a:solidFill>
            <a:prstDash val="solid"/>
          </a:ln>
        </p:spPr>
      </p:sp>
      <p:sp>
        <p:nvSpPr>
          <p:cNvPr id="45" name="Text 43"/>
          <p:cNvSpPr txBox="1"/>
          <p:nvPr/>
        </p:nvSpPr>
        <p:spPr>
          <a:xfrm>
            <a:off x="5669280" y="3575304"/>
            <a:ext cx="2011680" cy="237744"/>
          </a:xfrm>
          <a:prstGeom prst="rect">
            <a:avLst/>
          </a:prstGeom>
          <a:noFill/>
          <a:ln/>
        </p:spPr>
        <p:txBody>
          <a:bodyPr wrap="square" lIns="0" tIns="0" rIns="0" bIns="0" rtlCol="0" anchor="ctr"/>
          <a:lstStyle/>
          <a:p>
            <a:pPr indent="0" marL="0">
              <a:buNone/>
            </a:pPr>
            <a:r>
              <a:rPr lang="en-US" sz="950" b="1" spc="140" kern="0" dirty="0">
                <a:solidFill>
                  <a:srgbClr val="F0B429"/>
                </a:solidFill>
                <a:latin typeface="Arial" pitchFamily="34" charset="0"/>
                <a:ea typeface="Arial" pitchFamily="34" charset="-122"/>
                <a:cs typeface="Arial" pitchFamily="34" charset="-120"/>
              </a:rPr>
              <a:t>DESCRIPTIVE</a:t>
            </a:r>
            <a:endParaRPr lang="en-US" sz="950" dirty="0"/>
          </a:p>
        </p:txBody>
      </p:sp>
      <p:sp>
        <p:nvSpPr>
          <p:cNvPr id="46" name="Shape 44"/>
          <p:cNvSpPr/>
          <p:nvPr/>
        </p:nvSpPr>
        <p:spPr>
          <a:xfrm>
            <a:off x="9235440" y="3639312"/>
            <a:ext cx="2057400" cy="109728"/>
          </a:xfrm>
          <a:prstGeom prst="roundRect">
            <a:avLst>
              <a:gd name="adj" fmla="val 50000"/>
            </a:avLst>
          </a:prstGeom>
          <a:solidFill>
            <a:srgbClr val="2B313D"/>
          </a:solidFill>
          <a:ln w="12700">
            <a:solidFill>
              <a:srgbClr val="333333"/>
            </a:solidFill>
            <a:prstDash val="solid"/>
          </a:ln>
        </p:spPr>
      </p:sp>
      <p:sp>
        <p:nvSpPr>
          <p:cNvPr id="47" name="Shape 45"/>
          <p:cNvSpPr/>
          <p:nvPr/>
        </p:nvSpPr>
        <p:spPr>
          <a:xfrm>
            <a:off x="9235440" y="3639312"/>
            <a:ext cx="2057400" cy="109728"/>
          </a:xfrm>
          <a:prstGeom prst="roundRect">
            <a:avLst>
              <a:gd name="adj" fmla="val 50000"/>
            </a:avLst>
          </a:prstGeom>
          <a:solidFill>
            <a:srgbClr val="F0B429"/>
          </a:solidFill>
          <a:ln w="12700">
            <a:solidFill>
              <a:srgbClr val="333333"/>
            </a:solidFill>
            <a:prstDash val="solid"/>
          </a:ln>
        </p:spPr>
      </p:sp>
      <p:sp>
        <p:nvSpPr>
          <p:cNvPr id="48" name="Text 46"/>
          <p:cNvSpPr txBox="1"/>
          <p:nvPr/>
        </p:nvSpPr>
        <p:spPr>
          <a:xfrm>
            <a:off x="5669280" y="3867912"/>
            <a:ext cx="5623560" cy="411480"/>
          </a:xfrm>
          <a:prstGeom prst="rect">
            <a:avLst/>
          </a:prstGeom>
          <a:noFill/>
          <a:ln/>
        </p:spPr>
        <p:txBody>
          <a:bodyPr wrap="square" lIns="0" tIns="0" rIns="0" bIns="0" rtlCol="0" anchor="ctr"/>
          <a:lstStyle/>
          <a:p>
            <a:pPr indent="0" marL="0">
              <a:buNone/>
            </a:pPr>
            <a:r>
              <a:rPr lang="en-US" sz="1500" dirty="0">
                <a:solidFill>
                  <a:srgbClr val="F4F6FA"/>
                </a:solidFill>
                <a:latin typeface="Arial" pitchFamily="34" charset="0"/>
                <a:ea typeface="Arial" pitchFamily="34" charset="-122"/>
                <a:cs typeface="Arial" pitchFamily="34" charset="-120"/>
              </a:rPr>
              <a:t>[low, tense music builds in the distance]</a:t>
            </a:r>
            <a:endParaRPr lang="en-US" sz="1500" dirty="0"/>
          </a:p>
        </p:txBody>
      </p:sp>
      <p:sp>
        <p:nvSpPr>
          <p:cNvPr id="49" name="Shape 47"/>
          <p:cNvSpPr/>
          <p:nvPr/>
        </p:nvSpPr>
        <p:spPr>
          <a:xfrm>
            <a:off x="594360" y="4709160"/>
            <a:ext cx="10927080" cy="1051560"/>
          </a:xfrm>
          <a:prstGeom prst="roundRect">
            <a:avLst>
              <a:gd name="adj" fmla="val 12174"/>
            </a:avLst>
          </a:prstGeom>
          <a:solidFill>
            <a:srgbClr val="1E232D"/>
          </a:solidFill>
          <a:ln w="12700">
            <a:solidFill>
              <a:srgbClr val="2E3543"/>
            </a:solidFill>
            <a:prstDash val="solid"/>
          </a:ln>
        </p:spPr>
      </p:sp>
      <p:sp>
        <p:nvSpPr>
          <p:cNvPr id="50" name="Text 48"/>
          <p:cNvSpPr txBox="1"/>
          <p:nvPr/>
        </p:nvSpPr>
        <p:spPr>
          <a:xfrm>
            <a:off x="868680" y="4709160"/>
            <a:ext cx="2377440" cy="1051560"/>
          </a:xfrm>
          <a:prstGeom prst="rect">
            <a:avLst/>
          </a:prstGeom>
          <a:noFill/>
          <a:ln/>
        </p:spPr>
        <p:txBody>
          <a:bodyPr wrap="square" lIns="0" tIns="0" rIns="0" bIns="0" rtlCol="0" anchor="ctr"/>
          <a:lstStyle/>
          <a:p>
            <a:pPr indent="0" marL="0">
              <a:buNone/>
            </a:pPr>
            <a:r>
              <a:rPr lang="en-US" sz="1700" b="1" dirty="0">
                <a:solidFill>
                  <a:srgbClr val="F4F6FA"/>
                </a:solidFill>
                <a:latin typeface="Arial" pitchFamily="34" charset="0"/>
                <a:ea typeface="Arial" pitchFamily="34" charset="-122"/>
                <a:cs typeface="Arial" pitchFamily="34" charset="-120"/>
              </a:rPr>
              <a:t>Different viewers</a:t>
            </a:r>
            <a:endParaRPr lang="en-US" sz="1700" dirty="0"/>
          </a:p>
        </p:txBody>
      </p:sp>
      <p:sp>
        <p:nvSpPr>
          <p:cNvPr id="51" name="Shape 49"/>
          <p:cNvSpPr/>
          <p:nvPr/>
        </p:nvSpPr>
        <p:spPr>
          <a:xfrm>
            <a:off x="3337560" y="5138928"/>
            <a:ext cx="411480" cy="201168"/>
          </a:xfrm>
          <a:prstGeom prst="rightArrow">
            <a:avLst/>
          </a:prstGeom>
          <a:solidFill>
            <a:srgbClr val="F0B429"/>
          </a:solidFill>
          <a:ln w="12700">
            <a:solidFill>
              <a:srgbClr val="F0B429"/>
            </a:solidFill>
            <a:prstDash val="solid"/>
          </a:ln>
        </p:spPr>
      </p:sp>
      <p:sp>
        <p:nvSpPr>
          <p:cNvPr id="52" name="Text 50"/>
          <p:cNvSpPr txBox="1"/>
          <p:nvPr/>
        </p:nvSpPr>
        <p:spPr>
          <a:xfrm>
            <a:off x="3931920" y="4709160"/>
            <a:ext cx="3931920" cy="1051560"/>
          </a:xfrm>
          <a:prstGeom prst="rect">
            <a:avLst/>
          </a:prstGeom>
          <a:noFill/>
          <a:ln/>
        </p:spPr>
        <p:txBody>
          <a:bodyPr wrap="square" lIns="0" tIns="0" rIns="0" bIns="0" rtlCol="0" anchor="ctr"/>
          <a:lstStyle/>
          <a:p>
            <a:pPr indent="0" marL="0">
              <a:buNone/>
            </a:pPr>
            <a:r>
              <a:rPr lang="en-US" sz="1700" b="1" dirty="0">
                <a:solidFill>
                  <a:srgbClr val="F0B429"/>
                </a:solidFill>
                <a:latin typeface="Arial" pitchFamily="34" charset="0"/>
                <a:ea typeface="Arial" pitchFamily="34" charset="-122"/>
                <a:cs typeface="Arial" pitchFamily="34" charset="-120"/>
              </a:rPr>
              <a:t>Different caption preferences</a:t>
            </a:r>
            <a:endParaRPr lang="en-US" sz="1700" dirty="0"/>
          </a:p>
        </p:txBody>
      </p:sp>
      <p:sp>
        <p:nvSpPr>
          <p:cNvPr id="53" name="Text 51"/>
          <p:cNvSpPr txBox="1"/>
          <p:nvPr/>
        </p:nvSpPr>
        <p:spPr>
          <a:xfrm>
            <a:off x="7955280" y="4709160"/>
            <a:ext cx="3383280" cy="1051560"/>
          </a:xfrm>
          <a:prstGeom prst="rect">
            <a:avLst/>
          </a:prstGeom>
          <a:noFill/>
          <a:ln/>
        </p:spPr>
        <p:txBody>
          <a:bodyPr wrap="square" lIns="0" tIns="0" rIns="0" bIns="0" rtlCol="0" anchor="ctr"/>
          <a:lstStyle/>
          <a:p>
            <a:pPr indent="0" marL="0">
              <a:lnSpc>
                <a:spcPts val="1500"/>
              </a:lnSpc>
              <a:buNone/>
            </a:pPr>
            <a:r>
              <a:rPr lang="en-US" sz="1100" dirty="0">
                <a:solidFill>
                  <a:srgbClr val="9AA3B4"/>
                </a:solidFill>
                <a:latin typeface="Arial" pitchFamily="34" charset="0"/>
                <a:ea typeface="Arial" pitchFamily="34" charset="-122"/>
                <a:cs typeface="Arial" pitchFamily="34" charset="-120"/>
              </a:rPr>
              <a:t>Non-speech captions carry mood, events and context — but how much detail is useful isn't the same for every viewer.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p:bgPr>
    </p:bg>
    <p:spTree>
      <p:nvGrpSpPr>
        <p:cNvPr id="1" name=""/>
        <p:cNvGrpSpPr/>
        <p:nvPr/>
      </p:nvGrpSpPr>
      <p:grpSpPr>
        <a:xfrm>
          <a:off x="0" y="0"/>
          <a:ext cx="0" cy="0"/>
          <a:chOff x="0" y="0"/>
          <a:chExt cx="0" cy="0"/>
        </a:xfrm>
      </p:grpSpPr>
      <p:sp>
        <p:nvSpPr>
          <p:cNvPr id="2" name="Text 0"/>
          <p:cNvSpPr txBox="1"/>
          <p:nvPr/>
        </p:nvSpPr>
        <p:spPr>
          <a:xfrm>
            <a:off x="594360" y="384048"/>
            <a:ext cx="10881360" cy="685800"/>
          </a:xfrm>
          <a:prstGeom prst="rect">
            <a:avLst/>
          </a:prstGeom>
          <a:noFill/>
          <a:ln/>
        </p:spPr>
        <p:txBody>
          <a:bodyPr wrap="square" lIns="0" tIns="0" rIns="0" bIns="0" rtlCol="0" anchor="ctr"/>
          <a:lstStyle/>
          <a:p>
            <a:pPr algn="l" indent="0" marL="0">
              <a:buNone/>
            </a:pPr>
            <a:r>
              <a:rPr lang="en-US" sz="3400" b="1" dirty="0">
                <a:solidFill>
                  <a:srgbClr val="F4F6FA"/>
                </a:solidFill>
                <a:latin typeface="Arial" pitchFamily="34" charset="0"/>
                <a:ea typeface="Arial" pitchFamily="34" charset="-122"/>
                <a:cs typeface="Arial" pitchFamily="34" charset="-120"/>
              </a:rPr>
              <a:t>What we already know</a:t>
            </a:r>
            <a:endParaRPr lang="en-US" sz="3400" dirty="0"/>
          </a:p>
        </p:txBody>
      </p:sp>
      <p:sp>
        <p:nvSpPr>
          <p:cNvPr id="3" name="Text 1"/>
          <p:cNvSpPr txBox="1"/>
          <p:nvPr/>
        </p:nvSpPr>
        <p:spPr>
          <a:xfrm>
            <a:off x="612648" y="1005840"/>
            <a:ext cx="7772400" cy="274320"/>
          </a:xfrm>
          <a:prstGeom prst="rect">
            <a:avLst/>
          </a:prstGeom>
          <a:noFill/>
          <a:ln/>
        </p:spPr>
        <p:txBody>
          <a:bodyPr wrap="square" lIns="0" tIns="0" rIns="0" bIns="0" rtlCol="0" anchor="ctr"/>
          <a:lstStyle/>
          <a:p>
            <a:pPr indent="0" marL="0">
              <a:buNone/>
            </a:pPr>
            <a:r>
              <a:rPr lang="en-US" sz="1100" dirty="0">
                <a:solidFill>
                  <a:srgbClr val="9AA3B4"/>
                </a:solidFill>
                <a:latin typeface="Arial" pitchFamily="34" charset="0"/>
                <a:ea typeface="Arial" pitchFamily="34" charset="-122"/>
                <a:cs typeface="Arial" pitchFamily="34" charset="-120"/>
              </a:rPr>
              <a:t>Findings from three recent ASSETS 2025 papers — not our claims.</a:t>
            </a:r>
            <a:endParaRPr lang="en-US" sz="1100" dirty="0"/>
          </a:p>
        </p:txBody>
      </p:sp>
      <p:sp>
        <p:nvSpPr>
          <p:cNvPr id="4" name="Shape 2"/>
          <p:cNvSpPr/>
          <p:nvPr/>
        </p:nvSpPr>
        <p:spPr>
          <a:xfrm>
            <a:off x="594360" y="1371600"/>
            <a:ext cx="3520440" cy="2880360"/>
          </a:xfrm>
          <a:prstGeom prst="roundRect">
            <a:avLst>
              <a:gd name="adj" fmla="val 4444"/>
            </a:avLst>
          </a:prstGeom>
          <a:solidFill>
            <a:srgbClr val="161A22"/>
          </a:solidFill>
          <a:ln w="12700">
            <a:solidFill>
              <a:srgbClr val="2E3543"/>
            </a:solidFill>
            <a:prstDash val="solid"/>
          </a:ln>
        </p:spPr>
      </p:sp>
      <p:sp>
        <p:nvSpPr>
          <p:cNvPr id="5" name="Shape 3"/>
          <p:cNvSpPr/>
          <p:nvPr/>
        </p:nvSpPr>
        <p:spPr>
          <a:xfrm>
            <a:off x="850392" y="1627632"/>
            <a:ext cx="512064" cy="512064"/>
          </a:xfrm>
          <a:prstGeom prst="ellipse">
            <a:avLst/>
          </a:prstGeom>
          <a:solidFill>
            <a:srgbClr val="3B2F12"/>
          </a:solidFill>
          <a:ln w="12700">
            <a:solidFill>
              <a:srgbClr val="F0B429"/>
            </a:solidFill>
            <a:prstDash val="solid"/>
          </a:ln>
        </p:spPr>
      </p:sp>
      <p:sp>
        <p:nvSpPr>
          <p:cNvPr id="6" name="Shape 4"/>
          <p:cNvSpPr/>
          <p:nvPr/>
        </p:nvSpPr>
        <p:spPr>
          <a:xfrm>
            <a:off x="1028700" y="1719072"/>
            <a:ext cx="155448" cy="155448"/>
          </a:xfrm>
          <a:prstGeom prst="ellipse">
            <a:avLst/>
          </a:prstGeom>
          <a:solidFill>
            <a:srgbClr val="F0B429"/>
          </a:solidFill>
          <a:ln w="12700">
            <a:solidFill>
              <a:srgbClr val="333333"/>
            </a:solidFill>
            <a:prstDash val="solid"/>
          </a:ln>
        </p:spPr>
      </p:sp>
      <p:sp>
        <p:nvSpPr>
          <p:cNvPr id="7" name="Shape 5"/>
          <p:cNvSpPr/>
          <p:nvPr/>
        </p:nvSpPr>
        <p:spPr>
          <a:xfrm>
            <a:off x="969264" y="1911096"/>
            <a:ext cx="274320" cy="146304"/>
          </a:xfrm>
          <a:prstGeom prst="roundRect">
            <a:avLst>
              <a:gd name="adj" fmla="val 37500"/>
            </a:avLst>
          </a:prstGeom>
          <a:solidFill>
            <a:srgbClr val="F0B429"/>
          </a:solidFill>
          <a:ln w="12700">
            <a:solidFill>
              <a:srgbClr val="333333"/>
            </a:solidFill>
            <a:prstDash val="solid"/>
          </a:ln>
        </p:spPr>
      </p:sp>
      <p:sp>
        <p:nvSpPr>
          <p:cNvPr id="8" name="Text 6"/>
          <p:cNvSpPr txBox="1"/>
          <p:nvPr/>
        </p:nvSpPr>
        <p:spPr>
          <a:xfrm>
            <a:off x="1490472" y="1627632"/>
            <a:ext cx="2423160" cy="512064"/>
          </a:xfrm>
          <a:prstGeom prst="rect">
            <a:avLst/>
          </a:prstGeom>
          <a:noFill/>
          <a:ln/>
        </p:spPr>
        <p:txBody>
          <a:bodyPr wrap="square" lIns="0" tIns="0" rIns="0" bIns="0" rtlCol="0" anchor="ctr"/>
          <a:lstStyle/>
          <a:p>
            <a:pPr indent="0" marL="0">
              <a:buNone/>
            </a:pPr>
            <a:r>
              <a:rPr lang="en-US" sz="1600" b="1" dirty="0">
                <a:solidFill>
                  <a:srgbClr val="F4F6FA"/>
                </a:solidFill>
                <a:latin typeface="Arial" pitchFamily="34" charset="0"/>
                <a:ea typeface="Arial" pitchFamily="34" charset="-122"/>
                <a:cs typeface="Arial" pitchFamily="34" charset="-120"/>
              </a:rPr>
              <a:t>Personalization</a:t>
            </a:r>
            <a:endParaRPr lang="en-US" sz="1600" dirty="0"/>
          </a:p>
        </p:txBody>
      </p:sp>
      <p:sp>
        <p:nvSpPr>
          <p:cNvPr id="9" name="Text 7"/>
          <p:cNvSpPr txBox="1"/>
          <p:nvPr/>
        </p:nvSpPr>
        <p:spPr>
          <a:xfrm>
            <a:off x="868680" y="2286000"/>
            <a:ext cx="2990088" cy="169164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DHH viewers tuned non-speech captions along detail, expressiveness, sound representation and genre fit.</a:t>
            </a:r>
            <a:endParaRPr lang="en-US" sz="1050" dirty="0"/>
          </a:p>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Choices varied by person — and by culture and language across two countries.</a:t>
            </a:r>
            <a:endParaRPr lang="en-US" sz="1050" dirty="0"/>
          </a:p>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Researchers also saw a cost: too many options can overwhelm.</a:t>
            </a:r>
            <a:endParaRPr lang="en-US" sz="1050" dirty="0"/>
          </a:p>
        </p:txBody>
      </p:sp>
      <p:sp>
        <p:nvSpPr>
          <p:cNvPr id="10" name="Text 8"/>
          <p:cNvSpPr txBox="1"/>
          <p:nvPr/>
        </p:nvSpPr>
        <p:spPr>
          <a:xfrm>
            <a:off x="868680" y="3913632"/>
            <a:ext cx="2990088" cy="237744"/>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CapTune · CuCap</a:t>
            </a:r>
            <a:endParaRPr lang="en-US" sz="900" dirty="0"/>
          </a:p>
        </p:txBody>
      </p:sp>
      <p:sp>
        <p:nvSpPr>
          <p:cNvPr id="11" name="Shape 9"/>
          <p:cNvSpPr/>
          <p:nvPr/>
        </p:nvSpPr>
        <p:spPr>
          <a:xfrm>
            <a:off x="4343400" y="1371600"/>
            <a:ext cx="3520440" cy="2880360"/>
          </a:xfrm>
          <a:prstGeom prst="roundRect">
            <a:avLst>
              <a:gd name="adj" fmla="val 4444"/>
            </a:avLst>
          </a:prstGeom>
          <a:solidFill>
            <a:srgbClr val="161A22"/>
          </a:solidFill>
          <a:ln w="12700">
            <a:solidFill>
              <a:srgbClr val="2E3543"/>
            </a:solidFill>
            <a:prstDash val="solid"/>
          </a:ln>
        </p:spPr>
      </p:sp>
      <p:sp>
        <p:nvSpPr>
          <p:cNvPr id="12" name="Shape 10"/>
          <p:cNvSpPr/>
          <p:nvPr/>
        </p:nvSpPr>
        <p:spPr>
          <a:xfrm>
            <a:off x="4599432" y="1627632"/>
            <a:ext cx="512064" cy="512064"/>
          </a:xfrm>
          <a:prstGeom prst="ellipse">
            <a:avLst/>
          </a:prstGeom>
          <a:solidFill>
            <a:srgbClr val="3B2F12"/>
          </a:solidFill>
          <a:ln w="12700">
            <a:solidFill>
              <a:srgbClr val="F0B429"/>
            </a:solidFill>
            <a:prstDash val="solid"/>
          </a:ln>
        </p:spPr>
      </p:sp>
      <p:sp>
        <p:nvSpPr>
          <p:cNvPr id="13" name="Shape 11"/>
          <p:cNvSpPr/>
          <p:nvPr/>
        </p:nvSpPr>
        <p:spPr>
          <a:xfrm>
            <a:off x="4718304" y="1833372"/>
            <a:ext cx="41148" cy="100584"/>
          </a:xfrm>
          <a:prstGeom prst="roundRect">
            <a:avLst>
              <a:gd name="adj" fmla="val 88889"/>
            </a:avLst>
          </a:prstGeom>
          <a:solidFill>
            <a:srgbClr val="F0B429"/>
          </a:solidFill>
          <a:ln w="12700">
            <a:solidFill>
              <a:srgbClr val="333333"/>
            </a:solidFill>
            <a:prstDash val="solid"/>
          </a:ln>
        </p:spPr>
      </p:sp>
      <p:sp>
        <p:nvSpPr>
          <p:cNvPr id="14" name="Shape 12"/>
          <p:cNvSpPr/>
          <p:nvPr/>
        </p:nvSpPr>
        <p:spPr>
          <a:xfrm>
            <a:off x="4786884" y="1783080"/>
            <a:ext cx="41148" cy="201168"/>
          </a:xfrm>
          <a:prstGeom prst="roundRect">
            <a:avLst>
              <a:gd name="adj" fmla="val 88889"/>
            </a:avLst>
          </a:prstGeom>
          <a:solidFill>
            <a:srgbClr val="F0B429"/>
          </a:solidFill>
          <a:ln w="12700">
            <a:solidFill>
              <a:srgbClr val="333333"/>
            </a:solidFill>
            <a:prstDash val="solid"/>
          </a:ln>
        </p:spPr>
      </p:sp>
      <p:sp>
        <p:nvSpPr>
          <p:cNvPr id="15" name="Shape 13"/>
          <p:cNvSpPr/>
          <p:nvPr/>
        </p:nvSpPr>
        <p:spPr>
          <a:xfrm>
            <a:off x="4855464" y="1732788"/>
            <a:ext cx="41148" cy="301752"/>
          </a:xfrm>
          <a:prstGeom prst="roundRect">
            <a:avLst>
              <a:gd name="adj" fmla="val 88889"/>
            </a:avLst>
          </a:prstGeom>
          <a:solidFill>
            <a:srgbClr val="F0B429"/>
          </a:solidFill>
          <a:ln w="12700">
            <a:solidFill>
              <a:srgbClr val="333333"/>
            </a:solidFill>
            <a:prstDash val="solid"/>
          </a:ln>
        </p:spPr>
      </p:sp>
      <p:sp>
        <p:nvSpPr>
          <p:cNvPr id="16" name="Shape 14"/>
          <p:cNvSpPr/>
          <p:nvPr/>
        </p:nvSpPr>
        <p:spPr>
          <a:xfrm>
            <a:off x="4924044" y="1792224"/>
            <a:ext cx="41148" cy="182880"/>
          </a:xfrm>
          <a:prstGeom prst="roundRect">
            <a:avLst>
              <a:gd name="adj" fmla="val 88889"/>
            </a:avLst>
          </a:prstGeom>
          <a:solidFill>
            <a:srgbClr val="F0B429"/>
          </a:solidFill>
          <a:ln w="12700">
            <a:solidFill>
              <a:srgbClr val="333333"/>
            </a:solidFill>
            <a:prstDash val="solid"/>
          </a:ln>
        </p:spPr>
      </p:sp>
      <p:sp>
        <p:nvSpPr>
          <p:cNvPr id="17" name="Shape 15"/>
          <p:cNvSpPr/>
          <p:nvPr/>
        </p:nvSpPr>
        <p:spPr>
          <a:xfrm>
            <a:off x="4992624" y="1837944"/>
            <a:ext cx="41148" cy="91440"/>
          </a:xfrm>
          <a:prstGeom prst="roundRect">
            <a:avLst>
              <a:gd name="adj" fmla="val 88889"/>
            </a:avLst>
          </a:prstGeom>
          <a:solidFill>
            <a:srgbClr val="F0B429"/>
          </a:solidFill>
          <a:ln w="12700">
            <a:solidFill>
              <a:srgbClr val="333333"/>
            </a:solidFill>
            <a:prstDash val="solid"/>
          </a:ln>
        </p:spPr>
      </p:sp>
      <p:sp>
        <p:nvSpPr>
          <p:cNvPr id="18" name="Text 16"/>
          <p:cNvSpPr txBox="1"/>
          <p:nvPr/>
        </p:nvSpPr>
        <p:spPr>
          <a:xfrm>
            <a:off x="5239512" y="1627632"/>
            <a:ext cx="2423160" cy="512064"/>
          </a:xfrm>
          <a:prstGeom prst="rect">
            <a:avLst/>
          </a:prstGeom>
          <a:noFill/>
          <a:ln/>
        </p:spPr>
        <p:txBody>
          <a:bodyPr wrap="square" lIns="0" tIns="0" rIns="0" bIns="0" rtlCol="0" anchor="ctr"/>
          <a:lstStyle/>
          <a:p>
            <a:pPr indent="0" marL="0">
              <a:buNone/>
            </a:pPr>
            <a:r>
              <a:rPr lang="en-US" sz="1600" b="1" dirty="0">
                <a:solidFill>
                  <a:srgbClr val="F4F6FA"/>
                </a:solidFill>
                <a:latin typeface="Arial" pitchFamily="34" charset="0"/>
                <a:ea typeface="Arial" pitchFamily="34" charset="-122"/>
                <a:cs typeface="Arial" pitchFamily="34" charset="-120"/>
              </a:rPr>
              <a:t>Sound description</a:t>
            </a:r>
            <a:endParaRPr lang="en-US" sz="1600" dirty="0"/>
          </a:p>
        </p:txBody>
      </p:sp>
      <p:sp>
        <p:nvSpPr>
          <p:cNvPr id="19" name="Text 17"/>
          <p:cNvSpPr txBox="1"/>
          <p:nvPr/>
        </p:nvSpPr>
        <p:spPr>
          <a:xfrm>
            <a:off x="4617720" y="2286000"/>
            <a:ext cx="2990088" cy="169164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Richer non-speech captions strengthened emotional and narrative engagement.</a:t>
            </a:r>
            <a:endParaRPr lang="en-US" sz="1050" dirty="0"/>
          </a:p>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But richness competes with cognitive load, especially in fast or visually busy scenes.</a:t>
            </a:r>
            <a:endParaRPr lang="en-US" sz="1050" dirty="0"/>
          </a:p>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Sounds you can't see were valued; captioning what's already visible broke immersion.</a:t>
            </a:r>
            <a:endParaRPr lang="en-US" sz="1050" dirty="0"/>
          </a:p>
        </p:txBody>
      </p:sp>
      <p:sp>
        <p:nvSpPr>
          <p:cNvPr id="20" name="Text 18"/>
          <p:cNvSpPr txBox="1"/>
          <p:nvPr/>
        </p:nvSpPr>
        <p:spPr>
          <a:xfrm>
            <a:off x="4617720" y="3913632"/>
            <a:ext cx="2990088" cy="237744"/>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CapTune</a:t>
            </a:r>
            <a:endParaRPr lang="en-US" sz="900" dirty="0"/>
          </a:p>
        </p:txBody>
      </p:sp>
      <p:sp>
        <p:nvSpPr>
          <p:cNvPr id="21" name="Shape 19"/>
          <p:cNvSpPr/>
          <p:nvPr/>
        </p:nvSpPr>
        <p:spPr>
          <a:xfrm>
            <a:off x="8092440" y="1371600"/>
            <a:ext cx="3520440" cy="2880360"/>
          </a:xfrm>
          <a:prstGeom prst="roundRect">
            <a:avLst>
              <a:gd name="adj" fmla="val 4444"/>
            </a:avLst>
          </a:prstGeom>
          <a:solidFill>
            <a:srgbClr val="161A22"/>
          </a:solidFill>
          <a:ln w="12700">
            <a:solidFill>
              <a:srgbClr val="2E3543"/>
            </a:solidFill>
            <a:prstDash val="solid"/>
          </a:ln>
        </p:spPr>
      </p:sp>
      <p:sp>
        <p:nvSpPr>
          <p:cNvPr id="22" name="Shape 20"/>
          <p:cNvSpPr/>
          <p:nvPr/>
        </p:nvSpPr>
        <p:spPr>
          <a:xfrm>
            <a:off x="8348472" y="1627632"/>
            <a:ext cx="512064" cy="512064"/>
          </a:xfrm>
          <a:prstGeom prst="ellipse">
            <a:avLst/>
          </a:prstGeom>
          <a:solidFill>
            <a:srgbClr val="3B2F12"/>
          </a:solidFill>
          <a:ln w="12700">
            <a:solidFill>
              <a:srgbClr val="F0B429"/>
            </a:solidFill>
            <a:prstDash val="solid"/>
          </a:ln>
        </p:spPr>
      </p:sp>
      <p:sp>
        <p:nvSpPr>
          <p:cNvPr id="23" name="Shape 21"/>
          <p:cNvSpPr/>
          <p:nvPr/>
        </p:nvSpPr>
        <p:spPr>
          <a:xfrm>
            <a:off x="8449056" y="1764792"/>
            <a:ext cx="310896" cy="237744"/>
          </a:xfrm>
          <a:prstGeom prst="roundRect">
            <a:avLst>
              <a:gd name="adj" fmla="val 19231"/>
            </a:avLst>
          </a:prstGeom>
          <a:solidFill>
            <a:srgbClr val="3B2F12"/>
          </a:solidFill>
          <a:ln w="25400">
            <a:solidFill>
              <a:srgbClr val="F0B429"/>
            </a:solidFill>
            <a:prstDash val="solid"/>
          </a:ln>
        </p:spPr>
      </p:sp>
      <p:sp>
        <p:nvSpPr>
          <p:cNvPr id="24" name="Shape 22"/>
          <p:cNvSpPr/>
          <p:nvPr/>
        </p:nvSpPr>
        <p:spPr>
          <a:xfrm>
            <a:off x="8558784" y="1929384"/>
            <a:ext cx="155448" cy="32004"/>
          </a:xfrm>
          <a:prstGeom prst="rect">
            <a:avLst/>
          </a:prstGeom>
          <a:solidFill>
            <a:srgbClr val="F0B429"/>
          </a:solidFill>
          <a:ln w="12700">
            <a:solidFill>
              <a:srgbClr val="333333"/>
            </a:solidFill>
            <a:prstDash val="solid"/>
          </a:ln>
        </p:spPr>
      </p:sp>
      <p:sp>
        <p:nvSpPr>
          <p:cNvPr id="25" name="Shape 23"/>
          <p:cNvSpPr/>
          <p:nvPr/>
        </p:nvSpPr>
        <p:spPr>
          <a:xfrm>
            <a:off x="8503920" y="1929384"/>
            <a:ext cx="32004" cy="32004"/>
          </a:xfrm>
          <a:prstGeom prst="rect">
            <a:avLst/>
          </a:prstGeom>
          <a:solidFill>
            <a:srgbClr val="F0B429"/>
          </a:solidFill>
          <a:ln w="12700">
            <a:solidFill>
              <a:srgbClr val="333333"/>
            </a:solidFill>
            <a:prstDash val="solid"/>
          </a:ln>
        </p:spPr>
      </p:sp>
      <p:sp>
        <p:nvSpPr>
          <p:cNvPr id="26" name="Text 24"/>
          <p:cNvSpPr txBox="1"/>
          <p:nvPr/>
        </p:nvSpPr>
        <p:spPr>
          <a:xfrm>
            <a:off x="8988552" y="1627632"/>
            <a:ext cx="2423160" cy="512064"/>
          </a:xfrm>
          <a:prstGeom prst="rect">
            <a:avLst/>
          </a:prstGeom>
          <a:noFill/>
          <a:ln/>
        </p:spPr>
        <p:txBody>
          <a:bodyPr wrap="square" lIns="0" tIns="0" rIns="0" bIns="0" rtlCol="0" anchor="ctr"/>
          <a:lstStyle/>
          <a:p>
            <a:pPr indent="0" marL="0">
              <a:buNone/>
            </a:pPr>
            <a:r>
              <a:rPr lang="en-US" sz="1600" b="1" dirty="0">
                <a:solidFill>
                  <a:srgbClr val="F4F6FA"/>
                </a:solidFill>
                <a:latin typeface="Arial" pitchFamily="34" charset="0"/>
                <a:ea typeface="Arial" pitchFamily="34" charset="-122"/>
                <a:cs typeface="Arial" pitchFamily="34" charset="-120"/>
              </a:rPr>
              <a:t>Viewing experience</a:t>
            </a:r>
            <a:endParaRPr lang="en-US" sz="1600" dirty="0"/>
          </a:p>
        </p:txBody>
      </p:sp>
      <p:sp>
        <p:nvSpPr>
          <p:cNvPr id="27" name="Text 25"/>
          <p:cNvSpPr txBox="1"/>
          <p:nvPr/>
        </p:nvSpPr>
        <p:spPr>
          <a:xfrm>
            <a:off x="8366760" y="2286000"/>
            <a:ext cx="2990088" cy="169164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Adding vocal emotion cues helped viewers read a speaker's intent.</a:t>
            </a:r>
            <a:endParaRPr lang="en-US" sz="1050" dirty="0"/>
          </a:p>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A minimal display that revealed detail on demand cut visual distraction.</a:t>
            </a:r>
            <a:endParaRPr lang="en-US" sz="1050" dirty="0"/>
          </a:p>
          <a:p>
            <a:pPr marL="342900" indent="-342900">
              <a:lnSpc>
                <a:spcPts val="1400"/>
              </a:lnSpc>
              <a:spcAft>
                <a:spcPts val="700"/>
              </a:spcAft>
              <a:buSzPct val="100000"/>
              <a:buChar char="•"/>
            </a:pPr>
            <a:r>
              <a:rPr lang="en-US" sz="1050" dirty="0">
                <a:solidFill>
                  <a:srgbClr val="9AA3B4"/>
                </a:solidFill>
                <a:latin typeface="Arial" pitchFamily="34" charset="0"/>
                <a:ea typeface="Arial" pitchFamily="34" charset="-122"/>
                <a:cs typeface="Arial" pitchFamily="34" charset="-120"/>
              </a:rPr>
              <a:t>Authors stress context-aware design and user control.</a:t>
            </a:r>
            <a:endParaRPr lang="en-US" sz="1050" dirty="0"/>
          </a:p>
        </p:txBody>
      </p:sp>
      <p:sp>
        <p:nvSpPr>
          <p:cNvPr id="28" name="Text 26"/>
          <p:cNvSpPr txBox="1"/>
          <p:nvPr/>
        </p:nvSpPr>
        <p:spPr>
          <a:xfrm>
            <a:off x="8366760" y="3913632"/>
            <a:ext cx="2990088" cy="237744"/>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Interpretive Caption</a:t>
            </a:r>
            <a:endParaRPr lang="en-US" sz="900" dirty="0"/>
          </a:p>
        </p:txBody>
      </p:sp>
      <p:sp>
        <p:nvSpPr>
          <p:cNvPr id="29" name="Shape 27"/>
          <p:cNvSpPr/>
          <p:nvPr/>
        </p:nvSpPr>
        <p:spPr>
          <a:xfrm>
            <a:off x="594360" y="4526280"/>
            <a:ext cx="5349240" cy="1417320"/>
          </a:xfrm>
          <a:prstGeom prst="roundRect">
            <a:avLst>
              <a:gd name="adj" fmla="val 9032"/>
            </a:avLst>
          </a:prstGeom>
          <a:solidFill>
            <a:srgbClr val="1E232D"/>
          </a:solidFill>
          <a:ln w="12700">
            <a:solidFill>
              <a:srgbClr val="2E3543"/>
            </a:solidFill>
            <a:prstDash val="solid"/>
          </a:ln>
        </p:spPr>
      </p:sp>
      <p:sp>
        <p:nvSpPr>
          <p:cNvPr id="30" name="Text 28"/>
          <p:cNvSpPr txBox="1"/>
          <p:nvPr/>
        </p:nvSpPr>
        <p:spPr>
          <a:xfrm>
            <a:off x="868680" y="4709160"/>
            <a:ext cx="4114800" cy="237744"/>
          </a:xfrm>
          <a:prstGeom prst="rect">
            <a:avLst/>
          </a:prstGeom>
          <a:noFill/>
          <a:ln/>
        </p:spPr>
        <p:txBody>
          <a:bodyPr wrap="square" lIns="0" tIns="0" rIns="0" bIns="0" rtlCol="0" anchor="ctr"/>
          <a:lstStyle/>
          <a:p>
            <a:pPr indent="0" marL="0">
              <a:buNone/>
            </a:pPr>
            <a:r>
              <a:rPr lang="en-US" sz="1000" b="1" spc="160" kern="0" dirty="0">
                <a:solidFill>
                  <a:srgbClr val="9AA3B4"/>
                </a:solidFill>
                <a:latin typeface="Arial" pitchFamily="34" charset="0"/>
                <a:ea typeface="Arial" pitchFamily="34" charset="-122"/>
                <a:cs typeface="Arial" pitchFamily="34" charset="-120"/>
              </a:rPr>
              <a:t>WHERE THIS WAS STUDIED</a:t>
            </a:r>
            <a:endParaRPr lang="en-US" sz="1000" dirty="0"/>
          </a:p>
        </p:txBody>
      </p:sp>
      <p:sp>
        <p:nvSpPr>
          <p:cNvPr id="31" name="Text 29"/>
          <p:cNvSpPr txBox="1"/>
          <p:nvPr/>
        </p:nvSpPr>
        <p:spPr>
          <a:xfrm>
            <a:off x="868680" y="4956048"/>
            <a:ext cx="4846320" cy="365760"/>
          </a:xfrm>
          <a:prstGeom prst="rect">
            <a:avLst/>
          </a:prstGeom>
          <a:noFill/>
          <a:ln/>
        </p:spPr>
        <p:txBody>
          <a:bodyPr wrap="square" lIns="0" tIns="0" rIns="0" bIns="0" rtlCol="0" anchor="ctr"/>
          <a:lstStyle/>
          <a:p>
            <a:pPr indent="0" marL="0">
              <a:buNone/>
            </a:pPr>
            <a:r>
              <a:rPr lang="en-US" sz="1700" b="1" dirty="0">
                <a:solidFill>
                  <a:srgbClr val="F4F6FA"/>
                </a:solidFill>
                <a:latin typeface="Arial" pitchFamily="34" charset="0"/>
                <a:ea typeface="Arial" pitchFamily="34" charset="-122"/>
                <a:cs typeface="Arial" pitchFamily="34" charset="-120"/>
              </a:rPr>
              <a:t>Short clips — 2 to 8 minutes</a:t>
            </a:r>
            <a:endParaRPr lang="en-US" sz="1700" dirty="0"/>
          </a:p>
        </p:txBody>
      </p:sp>
      <p:sp>
        <p:nvSpPr>
          <p:cNvPr id="32" name="Text 30"/>
          <p:cNvSpPr txBox="1"/>
          <p:nvPr/>
        </p:nvSpPr>
        <p:spPr>
          <a:xfrm>
            <a:off x="868680" y="5358384"/>
            <a:ext cx="4846320" cy="411480"/>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Arial" pitchFamily="34" charset="0"/>
                <a:ea typeface="Arial" pitchFamily="34" charset="-122"/>
                <a:cs typeface="Arial" pitchFamily="34" charset="-120"/>
              </a:rPr>
              <a:t>CapTune's own limitations section notes its clips ran 2–8 minutes.</a:t>
            </a:r>
            <a:endParaRPr lang="en-US" sz="1050" dirty="0"/>
          </a:p>
        </p:txBody>
      </p:sp>
      <p:sp>
        <p:nvSpPr>
          <p:cNvPr id="33" name="Shape 31"/>
          <p:cNvSpPr/>
          <p:nvPr/>
        </p:nvSpPr>
        <p:spPr>
          <a:xfrm>
            <a:off x="6172200" y="4526280"/>
            <a:ext cx="5349240" cy="1417320"/>
          </a:xfrm>
          <a:prstGeom prst="roundRect">
            <a:avLst>
              <a:gd name="adj" fmla="val 9032"/>
            </a:avLst>
          </a:prstGeom>
          <a:solidFill>
            <a:srgbClr val="161A22"/>
          </a:solidFill>
          <a:ln w="12700">
            <a:solidFill>
              <a:srgbClr val="F0B429"/>
            </a:solidFill>
            <a:prstDash val="solid"/>
          </a:ln>
        </p:spPr>
      </p:sp>
      <p:sp>
        <p:nvSpPr>
          <p:cNvPr id="34" name="Text 32"/>
          <p:cNvSpPr txBox="1"/>
          <p:nvPr/>
        </p:nvSpPr>
        <p:spPr>
          <a:xfrm>
            <a:off x="6446520" y="4709160"/>
            <a:ext cx="4114800" cy="237744"/>
          </a:xfrm>
          <a:prstGeom prst="rect">
            <a:avLst/>
          </a:prstGeom>
          <a:noFill/>
          <a:ln/>
        </p:spPr>
        <p:txBody>
          <a:bodyPr wrap="square" lIns="0" tIns="0" rIns="0" bIns="0" rtlCol="0" anchor="ctr"/>
          <a:lstStyle/>
          <a:p>
            <a:pPr indent="0" marL="0">
              <a:buNone/>
            </a:pPr>
            <a:r>
              <a:rPr lang="en-US" sz="1000" b="1" spc="160" kern="0" dirty="0">
                <a:solidFill>
                  <a:srgbClr val="F0B429"/>
                </a:solidFill>
                <a:latin typeface="Arial" pitchFamily="34" charset="0"/>
                <a:ea typeface="Arial" pitchFamily="34" charset="-122"/>
                <a:cs typeface="Arial" pitchFamily="34" charset="-120"/>
              </a:rPr>
              <a:t>STILL UNCLEAR</a:t>
            </a:r>
            <a:endParaRPr lang="en-US" sz="1000" dirty="0"/>
          </a:p>
        </p:txBody>
      </p:sp>
      <p:sp>
        <p:nvSpPr>
          <p:cNvPr id="35" name="Text 33"/>
          <p:cNvSpPr txBox="1"/>
          <p:nvPr/>
        </p:nvSpPr>
        <p:spPr>
          <a:xfrm>
            <a:off x="6446520" y="4956048"/>
            <a:ext cx="4846320" cy="365760"/>
          </a:xfrm>
          <a:prstGeom prst="rect">
            <a:avLst/>
          </a:prstGeom>
          <a:noFill/>
          <a:ln/>
        </p:spPr>
        <p:txBody>
          <a:bodyPr wrap="square" lIns="0" tIns="0" rIns="0" bIns="0" rtlCol="0" anchor="ctr"/>
          <a:lstStyle/>
          <a:p>
            <a:pPr indent="0" marL="0">
              <a:buNone/>
            </a:pPr>
            <a:r>
              <a:rPr lang="en-US" sz="1700" b="1" dirty="0">
                <a:solidFill>
                  <a:srgbClr val="F4F6FA"/>
                </a:solidFill>
                <a:latin typeface="Arial" pitchFamily="34" charset="0"/>
                <a:ea typeface="Arial" pitchFamily="34" charset="-122"/>
                <a:cs typeface="Arial" pitchFamily="34" charset="-120"/>
              </a:rPr>
              <a:t>Longer, continuous story-driven viewing</a:t>
            </a:r>
            <a:endParaRPr lang="en-US" sz="1700" dirty="0"/>
          </a:p>
        </p:txBody>
      </p:sp>
      <p:sp>
        <p:nvSpPr>
          <p:cNvPr id="36" name="Text 34"/>
          <p:cNvSpPr txBox="1"/>
          <p:nvPr/>
        </p:nvSpPr>
        <p:spPr>
          <a:xfrm>
            <a:off x="6446520" y="5358384"/>
            <a:ext cx="4846320" cy="457200"/>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Arial" pitchFamily="34" charset="0"/>
                <a:ea typeface="Arial" pitchFamily="34" charset="-122"/>
                <a:cs typeface="Arial" pitchFamily="34" charset="-120"/>
              </a:rPr>
              <a:t>Full films and episodes raise narrative consistency, viewer fatigue and cumulative comprehension — flagged as not yet addressed.</a:t>
            </a:r>
            <a:endParaRPr lang="en-US" sz="1050" dirty="0"/>
          </a:p>
        </p:txBody>
      </p:sp>
      <p:sp>
        <p:nvSpPr>
          <p:cNvPr id="37" name="Text 35"/>
          <p:cNvSpPr txBox="1"/>
          <p:nvPr/>
        </p:nvSpPr>
        <p:spPr>
          <a:xfrm>
            <a:off x="594360" y="6236208"/>
            <a:ext cx="10881360" cy="274320"/>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Huang et al., CapTune (ASSETS '25)  ·  de Lacerda Pataca et al., CuCap (ASSETS '25)  ·  Ubur et al., Interpretive Caption (ASSETS '25)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p:bgPr>
    </p:bg>
    <p:spTree>
      <p:nvGrpSpPr>
        <p:cNvPr id="1" name=""/>
        <p:cNvGrpSpPr/>
        <p:nvPr/>
      </p:nvGrpSpPr>
      <p:grpSpPr>
        <a:xfrm>
          <a:off x="0" y="0"/>
          <a:ext cx="0" cy="0"/>
          <a:chOff x="0" y="0"/>
          <a:chExt cx="0" cy="0"/>
        </a:xfrm>
      </p:grpSpPr>
      <p:sp>
        <p:nvSpPr>
          <p:cNvPr id="2" name="Text 0"/>
          <p:cNvSpPr txBox="1"/>
          <p:nvPr/>
        </p:nvSpPr>
        <p:spPr>
          <a:xfrm>
            <a:off x="594360" y="384048"/>
            <a:ext cx="10881360" cy="685800"/>
          </a:xfrm>
          <a:prstGeom prst="rect">
            <a:avLst/>
          </a:prstGeom>
          <a:noFill/>
          <a:ln/>
        </p:spPr>
        <p:txBody>
          <a:bodyPr wrap="square" lIns="0" tIns="0" rIns="0" bIns="0" rtlCol="0" anchor="ctr"/>
          <a:lstStyle/>
          <a:p>
            <a:pPr algn="l" indent="0" marL="0">
              <a:buNone/>
            </a:pPr>
            <a:r>
              <a:rPr lang="en-US" sz="3400" b="1" dirty="0">
                <a:solidFill>
                  <a:srgbClr val="F4F6FA"/>
                </a:solidFill>
                <a:latin typeface="Arial" pitchFamily="34" charset="0"/>
                <a:ea typeface="Arial" pitchFamily="34" charset="-122"/>
                <a:cs typeface="Arial" pitchFamily="34" charset="-120"/>
              </a:rPr>
              <a:t>The gap</a:t>
            </a:r>
            <a:endParaRPr lang="en-US" sz="3400" dirty="0"/>
          </a:p>
        </p:txBody>
      </p:sp>
      <p:sp>
        <p:nvSpPr>
          <p:cNvPr id="3" name="Text 1"/>
          <p:cNvSpPr txBox="1"/>
          <p:nvPr/>
        </p:nvSpPr>
        <p:spPr>
          <a:xfrm>
            <a:off x="3291840" y="1234440"/>
            <a:ext cx="5577840" cy="411480"/>
          </a:xfrm>
          <a:prstGeom prst="rect">
            <a:avLst/>
          </a:prstGeom>
          <a:noFill/>
          <a:ln/>
        </p:spPr>
        <p:txBody>
          <a:bodyPr wrap="square" lIns="0" tIns="0" rIns="0" bIns="0" rtlCol="0" anchor="ctr"/>
          <a:lstStyle/>
          <a:p>
            <a:pPr algn="ctr" indent="0" marL="0">
              <a:buNone/>
            </a:pPr>
            <a:r>
              <a:rPr lang="en-US" sz="1500" i="1" dirty="0">
                <a:solidFill>
                  <a:srgbClr val="F0B429"/>
                </a:solidFill>
                <a:latin typeface="Arial" pitchFamily="34" charset="0"/>
                <a:ea typeface="Arial" pitchFamily="34" charset="-122"/>
                <a:cs typeface="Arial" pitchFamily="34" charset="-120"/>
              </a:rPr>
              <a:t>Does personalization still work across changing scenes?</a:t>
            </a:r>
            <a:endParaRPr lang="en-US" sz="1500" dirty="0"/>
          </a:p>
        </p:txBody>
      </p:sp>
      <p:sp>
        <p:nvSpPr>
          <p:cNvPr id="4" name="Shape 2"/>
          <p:cNvSpPr/>
          <p:nvPr/>
        </p:nvSpPr>
        <p:spPr>
          <a:xfrm>
            <a:off x="6080760" y="1664208"/>
            <a:ext cx="0" cy="667512"/>
          </a:xfrm>
          <a:prstGeom prst="line">
            <a:avLst/>
          </a:prstGeom>
          <a:noFill/>
          <a:ln w="12700">
            <a:solidFill>
              <a:srgbClr val="F0B429"/>
            </a:solidFill>
            <a:prstDash val="dash"/>
          </a:ln>
        </p:spPr>
      </p:sp>
      <p:sp>
        <p:nvSpPr>
          <p:cNvPr id="5" name="Shape 3"/>
          <p:cNvSpPr/>
          <p:nvPr/>
        </p:nvSpPr>
        <p:spPr>
          <a:xfrm>
            <a:off x="822960" y="2057400"/>
            <a:ext cx="3977640" cy="1417320"/>
          </a:xfrm>
          <a:prstGeom prst="roundRect">
            <a:avLst>
              <a:gd name="adj" fmla="val 9032"/>
            </a:avLst>
          </a:prstGeom>
          <a:solidFill>
            <a:srgbClr val="161A22"/>
          </a:solidFill>
          <a:ln w="12700">
            <a:solidFill>
              <a:srgbClr val="2E3543"/>
            </a:solidFill>
            <a:prstDash val="solid"/>
          </a:ln>
        </p:spPr>
      </p:sp>
      <p:sp>
        <p:nvSpPr>
          <p:cNvPr id="6" name="Text 4"/>
          <p:cNvSpPr txBox="1"/>
          <p:nvPr/>
        </p:nvSpPr>
        <p:spPr>
          <a:xfrm>
            <a:off x="1097280" y="2258568"/>
            <a:ext cx="3291840" cy="237744"/>
          </a:xfrm>
          <a:prstGeom prst="rect">
            <a:avLst/>
          </a:prstGeom>
          <a:noFill/>
          <a:ln/>
        </p:spPr>
        <p:txBody>
          <a:bodyPr wrap="square" lIns="0" tIns="0" rIns="0" bIns="0" rtlCol="0" anchor="ctr"/>
          <a:lstStyle/>
          <a:p>
            <a:pPr indent="0" marL="0">
              <a:buNone/>
            </a:pPr>
            <a:r>
              <a:rPr lang="en-US" sz="1000" b="1" spc="160" kern="0" dirty="0">
                <a:solidFill>
                  <a:srgbClr val="9AA3B4"/>
                </a:solidFill>
                <a:latin typeface="Arial" pitchFamily="34" charset="0"/>
                <a:ea typeface="Arial" pitchFamily="34" charset="-122"/>
                <a:cs typeface="Arial" pitchFamily="34" charset="-120"/>
              </a:rPr>
              <a:t>PRIOR STUDIES</a:t>
            </a:r>
            <a:endParaRPr lang="en-US" sz="1000" dirty="0"/>
          </a:p>
        </p:txBody>
      </p:sp>
      <p:sp>
        <p:nvSpPr>
          <p:cNvPr id="7" name="Text 5"/>
          <p:cNvSpPr txBox="1"/>
          <p:nvPr/>
        </p:nvSpPr>
        <p:spPr>
          <a:xfrm>
            <a:off x="1097280" y="2532888"/>
            <a:ext cx="3474720" cy="411480"/>
          </a:xfrm>
          <a:prstGeom prst="rect">
            <a:avLst/>
          </a:prstGeom>
          <a:noFill/>
          <a:ln/>
        </p:spPr>
        <p:txBody>
          <a:bodyPr wrap="square" lIns="0" tIns="0" rIns="0" bIns="0" rtlCol="0" anchor="ctr"/>
          <a:lstStyle/>
          <a:p>
            <a:pPr indent="0" marL="0">
              <a:buNone/>
            </a:pPr>
            <a:r>
              <a:rPr lang="en-US" sz="2200" b="1" dirty="0">
                <a:solidFill>
                  <a:srgbClr val="F4F6FA"/>
                </a:solidFill>
                <a:latin typeface="Arial" pitchFamily="34" charset="0"/>
                <a:ea typeface="Arial" pitchFamily="34" charset="-122"/>
                <a:cs typeface="Arial" pitchFamily="34" charset="-120"/>
              </a:rPr>
              <a:t>2–8 min clips</a:t>
            </a:r>
            <a:endParaRPr lang="en-US" sz="2200" dirty="0"/>
          </a:p>
        </p:txBody>
      </p:sp>
      <p:sp>
        <p:nvSpPr>
          <p:cNvPr id="8" name="Text 6"/>
          <p:cNvSpPr txBox="1"/>
          <p:nvPr/>
        </p:nvSpPr>
        <p:spPr>
          <a:xfrm>
            <a:off x="1097280" y="2962656"/>
            <a:ext cx="3474720" cy="320040"/>
          </a:xfrm>
          <a:prstGeom prst="rect">
            <a:avLst/>
          </a:prstGeom>
          <a:noFill/>
          <a:ln/>
        </p:spPr>
        <p:txBody>
          <a:bodyPr wrap="square" lIns="0" tIns="0" rIns="0" bIns="0" rtlCol="0" anchor="ctr"/>
          <a:lstStyle/>
          <a:p>
            <a:pPr indent="0" marL="0">
              <a:buNone/>
            </a:pPr>
            <a:r>
              <a:rPr lang="en-US" sz="1100" dirty="0">
                <a:solidFill>
                  <a:srgbClr val="9AA3B4"/>
                </a:solidFill>
                <a:latin typeface="Arial" pitchFamily="34" charset="0"/>
                <a:ea typeface="Arial" pitchFamily="34" charset="-122"/>
                <a:cs typeface="Arial" pitchFamily="34" charset="-120"/>
              </a:rPr>
              <a:t>Short, controlled viewing sessions</a:t>
            </a:r>
            <a:endParaRPr lang="en-US" sz="1100" dirty="0"/>
          </a:p>
        </p:txBody>
      </p:sp>
      <p:sp>
        <p:nvSpPr>
          <p:cNvPr id="9" name="Shape 7"/>
          <p:cNvSpPr/>
          <p:nvPr/>
        </p:nvSpPr>
        <p:spPr>
          <a:xfrm>
            <a:off x="4983480" y="2665476"/>
            <a:ext cx="502920" cy="201168"/>
          </a:xfrm>
          <a:prstGeom prst="rightArrow">
            <a:avLst/>
          </a:prstGeom>
          <a:solidFill>
            <a:srgbClr val="2E3543"/>
          </a:solidFill>
          <a:ln w="12700">
            <a:solidFill>
              <a:srgbClr val="2E3543"/>
            </a:solidFill>
            <a:prstDash val="solid"/>
          </a:ln>
        </p:spPr>
      </p:sp>
      <p:sp>
        <p:nvSpPr>
          <p:cNvPr id="10" name="Shape 8"/>
          <p:cNvSpPr/>
          <p:nvPr/>
        </p:nvSpPr>
        <p:spPr>
          <a:xfrm>
            <a:off x="5715000" y="2400300"/>
            <a:ext cx="731520" cy="731520"/>
          </a:xfrm>
          <a:prstGeom prst="ellipse">
            <a:avLst/>
          </a:prstGeom>
          <a:solidFill>
            <a:srgbClr val="3B2F12"/>
          </a:solidFill>
          <a:ln w="25400">
            <a:solidFill>
              <a:srgbClr val="F0B429"/>
            </a:solidFill>
            <a:prstDash val="solid"/>
          </a:ln>
        </p:spPr>
      </p:sp>
      <p:sp>
        <p:nvSpPr>
          <p:cNvPr id="11" name="Text 9"/>
          <p:cNvSpPr txBox="1"/>
          <p:nvPr/>
        </p:nvSpPr>
        <p:spPr>
          <a:xfrm>
            <a:off x="5715000" y="2400300"/>
            <a:ext cx="731520" cy="731520"/>
          </a:xfrm>
          <a:prstGeom prst="rect">
            <a:avLst/>
          </a:prstGeom>
          <a:noFill/>
          <a:ln/>
        </p:spPr>
        <p:txBody>
          <a:bodyPr wrap="square" lIns="0" tIns="0" rIns="0" bIns="0" rtlCol="0" anchor="ctr"/>
          <a:lstStyle/>
          <a:p>
            <a:pPr algn="ctr" indent="0" marL="0">
              <a:buNone/>
            </a:pPr>
            <a:r>
              <a:rPr lang="en-US" sz="3000" b="1" dirty="0">
                <a:solidFill>
                  <a:srgbClr val="F0B429"/>
                </a:solidFill>
                <a:latin typeface="Arial" pitchFamily="34" charset="0"/>
                <a:ea typeface="Arial" pitchFamily="34" charset="-122"/>
                <a:cs typeface="Arial" pitchFamily="34" charset="-120"/>
              </a:rPr>
              <a:t>?</a:t>
            </a:r>
            <a:endParaRPr lang="en-US" sz="3000" dirty="0"/>
          </a:p>
        </p:txBody>
      </p:sp>
      <p:sp>
        <p:nvSpPr>
          <p:cNvPr id="12" name="Shape 10"/>
          <p:cNvSpPr/>
          <p:nvPr/>
        </p:nvSpPr>
        <p:spPr>
          <a:xfrm>
            <a:off x="6675120" y="2665476"/>
            <a:ext cx="502920" cy="201168"/>
          </a:xfrm>
          <a:prstGeom prst="rightArrow">
            <a:avLst/>
          </a:prstGeom>
          <a:solidFill>
            <a:srgbClr val="2E3543"/>
          </a:solidFill>
          <a:ln w="12700">
            <a:solidFill>
              <a:srgbClr val="2E3543"/>
            </a:solidFill>
            <a:prstDash val="solid"/>
          </a:ln>
        </p:spPr>
      </p:sp>
      <p:sp>
        <p:nvSpPr>
          <p:cNvPr id="13" name="Shape 11"/>
          <p:cNvSpPr/>
          <p:nvPr/>
        </p:nvSpPr>
        <p:spPr>
          <a:xfrm>
            <a:off x="7360920" y="2057400"/>
            <a:ext cx="3977640" cy="1417320"/>
          </a:xfrm>
          <a:prstGeom prst="roundRect">
            <a:avLst>
              <a:gd name="adj" fmla="val 9032"/>
            </a:avLst>
          </a:prstGeom>
          <a:solidFill>
            <a:srgbClr val="161A22"/>
          </a:solidFill>
          <a:ln w="12700">
            <a:solidFill>
              <a:srgbClr val="F0B429"/>
            </a:solidFill>
            <a:prstDash val="solid"/>
          </a:ln>
        </p:spPr>
      </p:sp>
      <p:sp>
        <p:nvSpPr>
          <p:cNvPr id="14" name="Text 12"/>
          <p:cNvSpPr txBox="1"/>
          <p:nvPr/>
        </p:nvSpPr>
        <p:spPr>
          <a:xfrm>
            <a:off x="7635240" y="2258568"/>
            <a:ext cx="3291840" cy="237744"/>
          </a:xfrm>
          <a:prstGeom prst="rect">
            <a:avLst/>
          </a:prstGeom>
          <a:noFill/>
          <a:ln/>
        </p:spPr>
        <p:txBody>
          <a:bodyPr wrap="square" lIns="0" tIns="0" rIns="0" bIns="0" rtlCol="0" anchor="ctr"/>
          <a:lstStyle/>
          <a:p>
            <a:pPr indent="0" marL="0">
              <a:buNone/>
            </a:pPr>
            <a:r>
              <a:rPr lang="en-US" sz="1000" b="1" spc="160" kern="0" dirty="0">
                <a:solidFill>
                  <a:srgbClr val="F0B429"/>
                </a:solidFill>
                <a:latin typeface="Arial" pitchFamily="34" charset="0"/>
                <a:ea typeface="Arial" pitchFamily="34" charset="-122"/>
                <a:cs typeface="Arial" pitchFamily="34" charset="-120"/>
              </a:rPr>
              <a:t>OUR SETTING</a:t>
            </a:r>
            <a:endParaRPr lang="en-US" sz="1000" dirty="0"/>
          </a:p>
        </p:txBody>
      </p:sp>
      <p:sp>
        <p:nvSpPr>
          <p:cNvPr id="15" name="Text 13"/>
          <p:cNvSpPr txBox="1"/>
          <p:nvPr/>
        </p:nvSpPr>
        <p:spPr>
          <a:xfrm>
            <a:off x="7635240" y="2532888"/>
            <a:ext cx="3474720" cy="411480"/>
          </a:xfrm>
          <a:prstGeom prst="rect">
            <a:avLst/>
          </a:prstGeom>
          <a:noFill/>
          <a:ln/>
        </p:spPr>
        <p:txBody>
          <a:bodyPr wrap="square" lIns="0" tIns="0" rIns="0" bIns="0" rtlCol="0" anchor="ctr"/>
          <a:lstStyle/>
          <a:p>
            <a:pPr indent="0" marL="0">
              <a:buNone/>
            </a:pPr>
            <a:r>
              <a:rPr lang="en-US" sz="2200" b="1" dirty="0">
                <a:solidFill>
                  <a:srgbClr val="F4F6FA"/>
                </a:solidFill>
                <a:latin typeface="Arial" pitchFamily="34" charset="0"/>
                <a:ea typeface="Arial" pitchFamily="34" charset="-122"/>
                <a:cs typeface="Arial" pitchFamily="34" charset="-120"/>
              </a:rPr>
              <a:t>20–30 min story</a:t>
            </a:r>
            <a:endParaRPr lang="en-US" sz="2200" dirty="0"/>
          </a:p>
        </p:txBody>
      </p:sp>
      <p:sp>
        <p:nvSpPr>
          <p:cNvPr id="16" name="Text 14"/>
          <p:cNvSpPr txBox="1"/>
          <p:nvPr/>
        </p:nvSpPr>
        <p:spPr>
          <a:xfrm>
            <a:off x="7635240" y="2962656"/>
            <a:ext cx="3520440" cy="365760"/>
          </a:xfrm>
          <a:prstGeom prst="rect">
            <a:avLst/>
          </a:prstGeom>
          <a:noFill/>
          <a:ln/>
        </p:spPr>
        <p:txBody>
          <a:bodyPr wrap="square" lIns="0" tIns="0" rIns="0" bIns="0" rtlCol="0" anchor="ctr"/>
          <a:lstStyle/>
          <a:p>
            <a:pPr indent="0" marL="0">
              <a:buNone/>
            </a:pPr>
            <a:r>
              <a:rPr lang="en-US" sz="1100" dirty="0">
                <a:solidFill>
                  <a:srgbClr val="9AA3B4"/>
                </a:solidFill>
                <a:latin typeface="Arial" pitchFamily="34" charset="0"/>
                <a:ea typeface="Arial" pitchFamily="34" charset="-122"/>
                <a:cs typeface="Arial" pitchFamily="34" charset="-120"/>
              </a:rPr>
              <a:t>One episode or short film, watched straight through</a:t>
            </a:r>
            <a:endParaRPr lang="en-US" sz="1100" dirty="0"/>
          </a:p>
        </p:txBody>
      </p:sp>
      <p:sp>
        <p:nvSpPr>
          <p:cNvPr id="17" name="Shape 15"/>
          <p:cNvSpPr/>
          <p:nvPr/>
        </p:nvSpPr>
        <p:spPr>
          <a:xfrm>
            <a:off x="822960" y="3977640"/>
            <a:ext cx="10515600" cy="1783080"/>
          </a:xfrm>
          <a:prstGeom prst="roundRect">
            <a:avLst>
              <a:gd name="adj" fmla="val 8205"/>
            </a:avLst>
          </a:prstGeom>
          <a:solidFill>
            <a:srgbClr val="161A22"/>
          </a:solidFill>
          <a:ln w="12700">
            <a:solidFill>
              <a:srgbClr val="F0B429"/>
            </a:solidFill>
            <a:prstDash val="solid"/>
          </a:ln>
        </p:spPr>
      </p:sp>
      <p:sp>
        <p:nvSpPr>
          <p:cNvPr id="18" name="Text 16"/>
          <p:cNvSpPr txBox="1"/>
          <p:nvPr/>
        </p:nvSpPr>
        <p:spPr>
          <a:xfrm>
            <a:off x="1188720" y="4224528"/>
            <a:ext cx="4572000" cy="237744"/>
          </a:xfrm>
          <a:prstGeom prst="rect">
            <a:avLst/>
          </a:prstGeom>
          <a:noFill/>
          <a:ln/>
        </p:spPr>
        <p:txBody>
          <a:bodyPr wrap="square" lIns="0" tIns="0" rIns="0" bIns="0" rtlCol="0" anchor="ctr"/>
          <a:lstStyle/>
          <a:p>
            <a:pPr indent="0" marL="0">
              <a:buNone/>
            </a:pPr>
            <a:r>
              <a:rPr lang="en-US" sz="1000" b="1" spc="160" kern="0" dirty="0">
                <a:solidFill>
                  <a:srgbClr val="F0B429"/>
                </a:solidFill>
                <a:latin typeface="Arial" pitchFamily="34" charset="0"/>
                <a:ea typeface="Arial" pitchFamily="34" charset="-122"/>
                <a:cs typeface="Arial" pitchFamily="34" charset="-120"/>
              </a:rPr>
              <a:t>OUR RESEARCH QUESTION</a:t>
            </a:r>
            <a:endParaRPr lang="en-US" sz="1000" dirty="0"/>
          </a:p>
        </p:txBody>
      </p:sp>
      <p:sp>
        <p:nvSpPr>
          <p:cNvPr id="19" name="Text 17"/>
          <p:cNvSpPr txBox="1"/>
          <p:nvPr/>
        </p:nvSpPr>
        <p:spPr>
          <a:xfrm>
            <a:off x="1188720" y="4526280"/>
            <a:ext cx="9784080" cy="1051560"/>
          </a:xfrm>
          <a:prstGeom prst="rect">
            <a:avLst/>
          </a:prstGeom>
          <a:noFill/>
          <a:ln/>
        </p:spPr>
        <p:txBody>
          <a:bodyPr wrap="square" lIns="0" tIns="0" rIns="0" bIns="0" rtlCol="0" anchor="ctr"/>
          <a:lstStyle/>
          <a:p>
            <a:pPr indent="0" marL="0">
              <a:lnSpc>
                <a:spcPts val="2800"/>
              </a:lnSpc>
              <a:buNone/>
            </a:pPr>
            <a:r>
              <a:rPr lang="en-US" sz="2000" dirty="0">
                <a:solidFill>
                  <a:srgbClr val="F4F6FA"/>
                </a:solidFill>
                <a:latin typeface="Arial" pitchFamily="34" charset="0"/>
                <a:ea typeface="Arial" pitchFamily="34" charset="-122"/>
                <a:cs typeface="Arial" pitchFamily="34" charset="-120"/>
              </a:rPr>
              <a:t>How can personalized non-speech captions adapt throughout longer story-driven videos while remaining consistent, understandable and under the viewer's control?</a:t>
            </a:r>
            <a:endParaRPr lang="en-US" sz="2000" dirty="0"/>
          </a:p>
        </p:txBody>
      </p:sp>
      <p:sp>
        <p:nvSpPr>
          <p:cNvPr id="20" name="Text 18"/>
          <p:cNvSpPr txBox="1"/>
          <p:nvPr/>
        </p:nvSpPr>
        <p:spPr>
          <a:xfrm>
            <a:off x="594360" y="6236208"/>
            <a:ext cx="10881360" cy="274320"/>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Gap framing follows the limitations reported in Huang et al., CapTune (ASSETS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p:bgPr>
    </p:bg>
    <p:spTree>
      <p:nvGrpSpPr>
        <p:cNvPr id="1" name=""/>
        <p:cNvGrpSpPr/>
        <p:nvPr/>
      </p:nvGrpSpPr>
      <p:grpSpPr>
        <a:xfrm>
          <a:off x="0" y="0"/>
          <a:ext cx="0" cy="0"/>
          <a:chOff x="0" y="0"/>
          <a:chExt cx="0" cy="0"/>
        </a:xfrm>
      </p:grpSpPr>
      <p:sp>
        <p:nvSpPr>
          <p:cNvPr id="2" name="Text 0"/>
          <p:cNvSpPr txBox="1"/>
          <p:nvPr/>
        </p:nvSpPr>
        <p:spPr>
          <a:xfrm>
            <a:off x="594360" y="384048"/>
            <a:ext cx="10881360" cy="685800"/>
          </a:xfrm>
          <a:prstGeom prst="rect">
            <a:avLst/>
          </a:prstGeom>
          <a:noFill/>
          <a:ln/>
        </p:spPr>
        <p:txBody>
          <a:bodyPr wrap="square" lIns="0" tIns="0" rIns="0" bIns="0" rtlCol="0" anchor="ctr"/>
          <a:lstStyle/>
          <a:p>
            <a:pPr algn="l" indent="0" marL="0">
              <a:buNone/>
            </a:pPr>
            <a:r>
              <a:rPr lang="en-US" sz="3400" b="1" dirty="0">
                <a:solidFill>
                  <a:srgbClr val="F4F6FA"/>
                </a:solidFill>
                <a:latin typeface="Arial" pitchFamily="34" charset="0"/>
                <a:ea typeface="Arial" pitchFamily="34" charset="-122"/>
                <a:cs typeface="Arial" pitchFamily="34" charset="-120"/>
              </a:rPr>
              <a:t>Meet SceneCaptions</a:t>
            </a:r>
            <a:endParaRPr lang="en-US" sz="3400" dirty="0"/>
          </a:p>
        </p:txBody>
      </p:sp>
      <p:sp>
        <p:nvSpPr>
          <p:cNvPr id="3" name="Shape 1"/>
          <p:cNvSpPr/>
          <p:nvPr/>
        </p:nvSpPr>
        <p:spPr>
          <a:xfrm>
            <a:off x="10310774" y="530352"/>
            <a:ext cx="1210666" cy="237744"/>
          </a:xfrm>
          <a:prstGeom prst="roundRect">
            <a:avLst>
              <a:gd name="adj" fmla="val 26923"/>
            </a:avLst>
          </a:prstGeom>
          <a:solidFill>
            <a:srgbClr val="3B2F12"/>
          </a:solidFill>
          <a:ln w="12700">
            <a:solidFill>
              <a:srgbClr val="F0B429"/>
            </a:solidFill>
            <a:prstDash val="solid"/>
          </a:ln>
        </p:spPr>
      </p:sp>
      <p:sp>
        <p:nvSpPr>
          <p:cNvPr id="4" name="Text 2"/>
          <p:cNvSpPr txBox="1"/>
          <p:nvPr/>
        </p:nvSpPr>
        <p:spPr>
          <a:xfrm>
            <a:off x="10310774" y="530352"/>
            <a:ext cx="1210666" cy="237744"/>
          </a:xfrm>
          <a:prstGeom prst="rect">
            <a:avLst/>
          </a:prstGeom>
          <a:noFill/>
          <a:ln/>
        </p:spPr>
        <p:txBody>
          <a:bodyPr wrap="square" lIns="0" tIns="0" rIns="0" bIns="0" rtlCol="0" anchor="ctr"/>
          <a:lstStyle/>
          <a:p>
            <a:pPr algn="ctr" indent="0" marL="0">
              <a:buNone/>
            </a:pPr>
            <a:r>
              <a:rPr lang="en-US" sz="900" b="1" spc="80" kern="0" dirty="0">
                <a:solidFill>
                  <a:srgbClr val="F0B429"/>
                </a:solidFill>
                <a:latin typeface="Arial" pitchFamily="34" charset="0"/>
                <a:ea typeface="Arial" pitchFamily="34" charset="-122"/>
                <a:cs typeface="Arial" pitchFamily="34" charset="-120"/>
              </a:rPr>
              <a:t>OUR PROPOSAL</a:t>
            </a:r>
            <a:endParaRPr lang="en-US" sz="900" dirty="0"/>
          </a:p>
        </p:txBody>
      </p:sp>
      <p:sp>
        <p:nvSpPr>
          <p:cNvPr id="5" name="Shape 3"/>
          <p:cNvSpPr/>
          <p:nvPr/>
        </p:nvSpPr>
        <p:spPr>
          <a:xfrm>
            <a:off x="594360" y="1280160"/>
            <a:ext cx="7086600" cy="4617720"/>
          </a:xfrm>
          <a:prstGeom prst="roundRect">
            <a:avLst>
              <a:gd name="adj" fmla="val 3168"/>
            </a:avLst>
          </a:prstGeom>
          <a:solidFill>
            <a:srgbClr val="161A22"/>
          </a:solidFill>
          <a:ln w="12700">
            <a:solidFill>
              <a:srgbClr val="2E3543"/>
            </a:solidFill>
            <a:prstDash val="solid"/>
          </a:ln>
        </p:spPr>
      </p:sp>
      <p:sp>
        <p:nvSpPr>
          <p:cNvPr id="6" name="Shape 4"/>
          <p:cNvSpPr/>
          <p:nvPr/>
        </p:nvSpPr>
        <p:spPr>
          <a:xfrm>
            <a:off x="795528" y="1481328"/>
            <a:ext cx="6684264" cy="2606040"/>
          </a:xfrm>
          <a:prstGeom prst="rect">
            <a:avLst/>
          </a:prstGeom>
          <a:solidFill>
            <a:srgbClr val="0E1219"/>
          </a:solidFill>
          <a:ln w="12700">
            <a:solidFill>
              <a:srgbClr val="333333"/>
            </a:solidFill>
            <a:prstDash val="solid"/>
          </a:ln>
        </p:spPr>
      </p:sp>
      <p:sp>
        <p:nvSpPr>
          <p:cNvPr id="7" name="Shape 5"/>
          <p:cNvSpPr/>
          <p:nvPr/>
        </p:nvSpPr>
        <p:spPr>
          <a:xfrm>
            <a:off x="795528" y="1481328"/>
            <a:ext cx="6684264" cy="1511503"/>
          </a:xfrm>
          <a:prstGeom prst="rect">
            <a:avLst/>
          </a:prstGeom>
          <a:solidFill>
            <a:srgbClr val="141B27"/>
          </a:solidFill>
          <a:ln w="12700">
            <a:solidFill>
              <a:srgbClr val="333333"/>
            </a:solidFill>
            <a:prstDash val="solid"/>
          </a:ln>
        </p:spPr>
      </p:sp>
      <p:sp>
        <p:nvSpPr>
          <p:cNvPr id="8" name="Shape 6"/>
          <p:cNvSpPr/>
          <p:nvPr/>
        </p:nvSpPr>
        <p:spPr>
          <a:xfrm>
            <a:off x="5608198" y="1794053"/>
            <a:ext cx="443027" cy="443027"/>
          </a:xfrm>
          <a:prstGeom prst="ellipse">
            <a:avLst/>
          </a:prstGeom>
          <a:solidFill>
            <a:srgbClr val="D9DEE8"/>
          </a:solidFill>
          <a:ln w="12700">
            <a:solidFill>
              <a:srgbClr val="333333"/>
            </a:solidFill>
            <a:prstDash val="solid"/>
          </a:ln>
        </p:spPr>
      </p:sp>
      <p:sp>
        <p:nvSpPr>
          <p:cNvPr id="9" name="Shape 7"/>
          <p:cNvSpPr/>
          <p:nvPr/>
        </p:nvSpPr>
        <p:spPr>
          <a:xfrm>
            <a:off x="1196584" y="2575865"/>
            <a:ext cx="434477" cy="416966"/>
          </a:xfrm>
          <a:prstGeom prst="rect">
            <a:avLst/>
          </a:prstGeom>
          <a:solidFill>
            <a:srgbClr val="0A0E15"/>
          </a:solidFill>
          <a:ln w="12700">
            <a:solidFill>
              <a:srgbClr val="333333"/>
            </a:solidFill>
            <a:prstDash val="solid"/>
          </a:ln>
        </p:spPr>
      </p:sp>
      <p:sp>
        <p:nvSpPr>
          <p:cNvPr id="10" name="Shape 8"/>
          <p:cNvSpPr/>
          <p:nvPr/>
        </p:nvSpPr>
        <p:spPr>
          <a:xfrm>
            <a:off x="1731325" y="2341321"/>
            <a:ext cx="434477" cy="651510"/>
          </a:xfrm>
          <a:prstGeom prst="rect">
            <a:avLst/>
          </a:prstGeom>
          <a:solidFill>
            <a:srgbClr val="0A0E15"/>
          </a:solidFill>
          <a:ln w="12700">
            <a:solidFill>
              <a:srgbClr val="333333"/>
            </a:solidFill>
            <a:prstDash val="solid"/>
          </a:ln>
        </p:spPr>
      </p:sp>
      <p:sp>
        <p:nvSpPr>
          <p:cNvPr id="11" name="Shape 9"/>
          <p:cNvSpPr/>
          <p:nvPr/>
        </p:nvSpPr>
        <p:spPr>
          <a:xfrm>
            <a:off x="2199223" y="2680106"/>
            <a:ext cx="434477" cy="312725"/>
          </a:xfrm>
          <a:prstGeom prst="rect">
            <a:avLst/>
          </a:prstGeom>
          <a:solidFill>
            <a:srgbClr val="0A0E15"/>
          </a:solidFill>
          <a:ln w="12700">
            <a:solidFill>
              <a:srgbClr val="333333"/>
            </a:solidFill>
            <a:prstDash val="solid"/>
          </a:ln>
        </p:spPr>
      </p:sp>
      <p:sp>
        <p:nvSpPr>
          <p:cNvPr id="12" name="Shape 10"/>
          <p:cNvSpPr/>
          <p:nvPr/>
        </p:nvSpPr>
        <p:spPr>
          <a:xfrm>
            <a:off x="2800807" y="2211019"/>
            <a:ext cx="434477" cy="781812"/>
          </a:xfrm>
          <a:prstGeom prst="rect">
            <a:avLst/>
          </a:prstGeom>
          <a:solidFill>
            <a:srgbClr val="0A0E15"/>
          </a:solidFill>
          <a:ln w="12700">
            <a:solidFill>
              <a:srgbClr val="333333"/>
            </a:solidFill>
            <a:prstDash val="solid"/>
          </a:ln>
        </p:spPr>
      </p:sp>
      <p:sp>
        <p:nvSpPr>
          <p:cNvPr id="13" name="Shape 11"/>
          <p:cNvSpPr/>
          <p:nvPr/>
        </p:nvSpPr>
        <p:spPr>
          <a:xfrm>
            <a:off x="3469234" y="2523744"/>
            <a:ext cx="434477" cy="469087"/>
          </a:xfrm>
          <a:prstGeom prst="rect">
            <a:avLst/>
          </a:prstGeom>
          <a:solidFill>
            <a:srgbClr val="0A0E15"/>
          </a:solidFill>
          <a:ln w="12700">
            <a:solidFill>
              <a:srgbClr val="333333"/>
            </a:solidFill>
            <a:prstDash val="solid"/>
          </a:ln>
        </p:spPr>
      </p:sp>
      <p:sp>
        <p:nvSpPr>
          <p:cNvPr id="14" name="Shape 12"/>
          <p:cNvSpPr/>
          <p:nvPr/>
        </p:nvSpPr>
        <p:spPr>
          <a:xfrm>
            <a:off x="4271345" y="2419502"/>
            <a:ext cx="434477" cy="573329"/>
          </a:xfrm>
          <a:prstGeom prst="rect">
            <a:avLst/>
          </a:prstGeom>
          <a:solidFill>
            <a:srgbClr val="0A0E15"/>
          </a:solidFill>
          <a:ln w="12700">
            <a:solidFill>
              <a:srgbClr val="333333"/>
            </a:solidFill>
            <a:prstDash val="solid"/>
          </a:ln>
        </p:spPr>
      </p:sp>
      <p:sp>
        <p:nvSpPr>
          <p:cNvPr id="15" name="Shape 13"/>
          <p:cNvSpPr/>
          <p:nvPr/>
        </p:nvSpPr>
        <p:spPr>
          <a:xfrm>
            <a:off x="4806086" y="2654046"/>
            <a:ext cx="434477" cy="338785"/>
          </a:xfrm>
          <a:prstGeom prst="rect">
            <a:avLst/>
          </a:prstGeom>
          <a:solidFill>
            <a:srgbClr val="0A0E15"/>
          </a:solidFill>
          <a:ln w="12700">
            <a:solidFill>
              <a:srgbClr val="333333"/>
            </a:solidFill>
            <a:prstDash val="solid"/>
          </a:ln>
        </p:spPr>
      </p:sp>
      <p:sp>
        <p:nvSpPr>
          <p:cNvPr id="16" name="Shape 14"/>
          <p:cNvSpPr/>
          <p:nvPr/>
        </p:nvSpPr>
        <p:spPr>
          <a:xfrm>
            <a:off x="795528" y="2992831"/>
            <a:ext cx="6684264" cy="1094537"/>
          </a:xfrm>
          <a:prstGeom prst="rect">
            <a:avLst/>
          </a:prstGeom>
          <a:solidFill>
            <a:srgbClr val="0A0D13"/>
          </a:solidFill>
          <a:ln w="12700">
            <a:solidFill>
              <a:srgbClr val="333333"/>
            </a:solidFill>
            <a:prstDash val="solid"/>
          </a:ln>
        </p:spPr>
      </p:sp>
      <p:sp>
        <p:nvSpPr>
          <p:cNvPr id="17" name="Shape 15"/>
          <p:cNvSpPr/>
          <p:nvPr/>
        </p:nvSpPr>
        <p:spPr>
          <a:xfrm flipH="1">
            <a:off x="996056" y="1611630"/>
            <a:ext cx="36576" cy="286664"/>
          </a:xfrm>
          <a:prstGeom prst="line">
            <a:avLst/>
          </a:prstGeom>
          <a:noFill/>
          <a:ln w="12700">
            <a:solidFill>
              <a:srgbClr val="6B7A93"/>
            </a:solidFill>
            <a:prstDash val="solid"/>
          </a:ln>
        </p:spPr>
      </p:sp>
      <p:sp>
        <p:nvSpPr>
          <p:cNvPr id="18" name="Shape 16"/>
          <p:cNvSpPr/>
          <p:nvPr/>
        </p:nvSpPr>
        <p:spPr>
          <a:xfrm flipH="1">
            <a:off x="1403796" y="2054657"/>
            <a:ext cx="36576" cy="286664"/>
          </a:xfrm>
          <a:prstGeom prst="line">
            <a:avLst/>
          </a:prstGeom>
          <a:noFill/>
          <a:ln w="12700">
            <a:solidFill>
              <a:srgbClr val="6B7A93"/>
            </a:solidFill>
            <a:prstDash val="solid"/>
          </a:ln>
        </p:spPr>
      </p:sp>
      <p:sp>
        <p:nvSpPr>
          <p:cNvPr id="19" name="Shape 17"/>
          <p:cNvSpPr/>
          <p:nvPr/>
        </p:nvSpPr>
        <p:spPr>
          <a:xfrm flipH="1">
            <a:off x="1811536" y="2497684"/>
            <a:ext cx="36576" cy="286664"/>
          </a:xfrm>
          <a:prstGeom prst="line">
            <a:avLst/>
          </a:prstGeom>
          <a:noFill/>
          <a:ln w="12700">
            <a:solidFill>
              <a:srgbClr val="6B7A93"/>
            </a:solidFill>
            <a:prstDash val="solid"/>
          </a:ln>
        </p:spPr>
      </p:sp>
      <p:sp>
        <p:nvSpPr>
          <p:cNvPr id="20" name="Shape 18"/>
          <p:cNvSpPr/>
          <p:nvPr/>
        </p:nvSpPr>
        <p:spPr>
          <a:xfrm flipH="1">
            <a:off x="2219276" y="2940710"/>
            <a:ext cx="36576" cy="286664"/>
          </a:xfrm>
          <a:prstGeom prst="line">
            <a:avLst/>
          </a:prstGeom>
          <a:noFill/>
          <a:ln w="12700">
            <a:solidFill>
              <a:srgbClr val="6B7A93"/>
            </a:solidFill>
            <a:prstDash val="solid"/>
          </a:ln>
        </p:spPr>
      </p:sp>
      <p:sp>
        <p:nvSpPr>
          <p:cNvPr id="21" name="Shape 19"/>
          <p:cNvSpPr/>
          <p:nvPr/>
        </p:nvSpPr>
        <p:spPr>
          <a:xfrm flipH="1">
            <a:off x="2627016" y="1767992"/>
            <a:ext cx="36576" cy="286664"/>
          </a:xfrm>
          <a:prstGeom prst="line">
            <a:avLst/>
          </a:prstGeom>
          <a:noFill/>
          <a:ln w="12700">
            <a:solidFill>
              <a:srgbClr val="6B7A93"/>
            </a:solidFill>
            <a:prstDash val="solid"/>
          </a:ln>
        </p:spPr>
      </p:sp>
      <p:sp>
        <p:nvSpPr>
          <p:cNvPr id="22" name="Shape 20"/>
          <p:cNvSpPr/>
          <p:nvPr/>
        </p:nvSpPr>
        <p:spPr>
          <a:xfrm flipH="1">
            <a:off x="3034756" y="2211019"/>
            <a:ext cx="36576" cy="286664"/>
          </a:xfrm>
          <a:prstGeom prst="line">
            <a:avLst/>
          </a:prstGeom>
          <a:noFill/>
          <a:ln w="12700">
            <a:solidFill>
              <a:srgbClr val="6B7A93"/>
            </a:solidFill>
            <a:prstDash val="solid"/>
          </a:ln>
        </p:spPr>
      </p:sp>
      <p:sp>
        <p:nvSpPr>
          <p:cNvPr id="23" name="Shape 21"/>
          <p:cNvSpPr/>
          <p:nvPr/>
        </p:nvSpPr>
        <p:spPr>
          <a:xfrm flipH="1">
            <a:off x="3442497" y="2654046"/>
            <a:ext cx="36576" cy="286664"/>
          </a:xfrm>
          <a:prstGeom prst="line">
            <a:avLst/>
          </a:prstGeom>
          <a:noFill/>
          <a:ln w="12700">
            <a:solidFill>
              <a:srgbClr val="6B7A93"/>
            </a:solidFill>
            <a:prstDash val="solid"/>
          </a:ln>
        </p:spPr>
      </p:sp>
      <p:sp>
        <p:nvSpPr>
          <p:cNvPr id="24" name="Shape 22"/>
          <p:cNvSpPr/>
          <p:nvPr/>
        </p:nvSpPr>
        <p:spPr>
          <a:xfrm flipH="1">
            <a:off x="3850237" y="3097073"/>
            <a:ext cx="36576" cy="286664"/>
          </a:xfrm>
          <a:prstGeom prst="line">
            <a:avLst/>
          </a:prstGeom>
          <a:noFill/>
          <a:ln w="12700">
            <a:solidFill>
              <a:srgbClr val="6B7A93"/>
            </a:solidFill>
            <a:prstDash val="solid"/>
          </a:ln>
        </p:spPr>
      </p:sp>
      <p:sp>
        <p:nvSpPr>
          <p:cNvPr id="25" name="Shape 23"/>
          <p:cNvSpPr/>
          <p:nvPr/>
        </p:nvSpPr>
        <p:spPr>
          <a:xfrm flipH="1">
            <a:off x="4257977" y="1924355"/>
            <a:ext cx="36576" cy="286664"/>
          </a:xfrm>
          <a:prstGeom prst="line">
            <a:avLst/>
          </a:prstGeom>
          <a:noFill/>
          <a:ln w="12700">
            <a:solidFill>
              <a:srgbClr val="6B7A93"/>
            </a:solidFill>
            <a:prstDash val="solid"/>
          </a:ln>
        </p:spPr>
      </p:sp>
      <p:sp>
        <p:nvSpPr>
          <p:cNvPr id="26" name="Shape 24"/>
          <p:cNvSpPr/>
          <p:nvPr/>
        </p:nvSpPr>
        <p:spPr>
          <a:xfrm flipH="1">
            <a:off x="4665717" y="2367382"/>
            <a:ext cx="36576" cy="286664"/>
          </a:xfrm>
          <a:prstGeom prst="line">
            <a:avLst/>
          </a:prstGeom>
          <a:noFill/>
          <a:ln w="12700">
            <a:solidFill>
              <a:srgbClr val="6B7A93"/>
            </a:solidFill>
            <a:prstDash val="solid"/>
          </a:ln>
        </p:spPr>
      </p:sp>
      <p:sp>
        <p:nvSpPr>
          <p:cNvPr id="27" name="Shape 25"/>
          <p:cNvSpPr/>
          <p:nvPr/>
        </p:nvSpPr>
        <p:spPr>
          <a:xfrm flipH="1">
            <a:off x="5073457" y="2810408"/>
            <a:ext cx="36576" cy="286664"/>
          </a:xfrm>
          <a:prstGeom prst="line">
            <a:avLst/>
          </a:prstGeom>
          <a:noFill/>
          <a:ln w="12700">
            <a:solidFill>
              <a:srgbClr val="6B7A93"/>
            </a:solidFill>
            <a:prstDash val="solid"/>
          </a:ln>
        </p:spPr>
      </p:sp>
      <p:sp>
        <p:nvSpPr>
          <p:cNvPr id="28" name="Shape 26"/>
          <p:cNvSpPr/>
          <p:nvPr/>
        </p:nvSpPr>
        <p:spPr>
          <a:xfrm flipH="1">
            <a:off x="5481197" y="1637690"/>
            <a:ext cx="36576" cy="286664"/>
          </a:xfrm>
          <a:prstGeom prst="line">
            <a:avLst/>
          </a:prstGeom>
          <a:noFill/>
          <a:ln w="12700">
            <a:solidFill>
              <a:srgbClr val="6B7A93"/>
            </a:solidFill>
            <a:prstDash val="solid"/>
          </a:ln>
        </p:spPr>
      </p:sp>
      <p:sp>
        <p:nvSpPr>
          <p:cNvPr id="29" name="Shape 27"/>
          <p:cNvSpPr/>
          <p:nvPr/>
        </p:nvSpPr>
        <p:spPr>
          <a:xfrm flipH="1">
            <a:off x="5888937" y="2080717"/>
            <a:ext cx="36576" cy="286664"/>
          </a:xfrm>
          <a:prstGeom prst="line">
            <a:avLst/>
          </a:prstGeom>
          <a:noFill/>
          <a:ln w="12700">
            <a:solidFill>
              <a:srgbClr val="6B7A93"/>
            </a:solidFill>
            <a:prstDash val="solid"/>
          </a:ln>
        </p:spPr>
      </p:sp>
      <p:sp>
        <p:nvSpPr>
          <p:cNvPr id="30" name="Shape 28"/>
          <p:cNvSpPr/>
          <p:nvPr/>
        </p:nvSpPr>
        <p:spPr>
          <a:xfrm flipH="1">
            <a:off x="6296677" y="2523744"/>
            <a:ext cx="36576" cy="286664"/>
          </a:xfrm>
          <a:prstGeom prst="line">
            <a:avLst/>
          </a:prstGeom>
          <a:noFill/>
          <a:ln w="12700">
            <a:solidFill>
              <a:srgbClr val="6B7A93"/>
            </a:solidFill>
            <a:prstDash val="solid"/>
          </a:ln>
        </p:spPr>
      </p:sp>
      <p:sp>
        <p:nvSpPr>
          <p:cNvPr id="31" name="Shape 29"/>
          <p:cNvSpPr/>
          <p:nvPr/>
        </p:nvSpPr>
        <p:spPr>
          <a:xfrm flipH="1">
            <a:off x="6704417" y="2966771"/>
            <a:ext cx="36576" cy="286664"/>
          </a:xfrm>
          <a:prstGeom prst="line">
            <a:avLst/>
          </a:prstGeom>
          <a:noFill/>
          <a:ln w="12700">
            <a:solidFill>
              <a:srgbClr val="6B7A93"/>
            </a:solidFill>
            <a:prstDash val="solid"/>
          </a:ln>
        </p:spPr>
      </p:sp>
      <p:sp>
        <p:nvSpPr>
          <p:cNvPr id="32" name="Shape 30"/>
          <p:cNvSpPr/>
          <p:nvPr/>
        </p:nvSpPr>
        <p:spPr>
          <a:xfrm flipH="1">
            <a:off x="7112157" y="1794053"/>
            <a:ext cx="36576" cy="286664"/>
          </a:xfrm>
          <a:prstGeom prst="line">
            <a:avLst/>
          </a:prstGeom>
          <a:noFill/>
          <a:ln w="12700">
            <a:solidFill>
              <a:srgbClr val="6B7A93"/>
            </a:solidFill>
            <a:prstDash val="solid"/>
          </a:ln>
        </p:spPr>
      </p:sp>
      <p:sp>
        <p:nvSpPr>
          <p:cNvPr id="33" name="Shape 31"/>
          <p:cNvSpPr/>
          <p:nvPr/>
        </p:nvSpPr>
        <p:spPr>
          <a:xfrm>
            <a:off x="3469234" y="2836469"/>
            <a:ext cx="312725" cy="312725"/>
          </a:xfrm>
          <a:prstGeom prst="ellipse">
            <a:avLst/>
          </a:prstGeom>
          <a:solidFill>
            <a:srgbClr val="05070A"/>
          </a:solidFill>
          <a:ln w="12700">
            <a:solidFill>
              <a:srgbClr val="333333"/>
            </a:solidFill>
            <a:prstDash val="solid"/>
          </a:ln>
        </p:spPr>
      </p:sp>
      <p:sp>
        <p:nvSpPr>
          <p:cNvPr id="34" name="Shape 32"/>
          <p:cNvSpPr/>
          <p:nvPr/>
        </p:nvSpPr>
        <p:spPr>
          <a:xfrm>
            <a:off x="3354568" y="3117921"/>
            <a:ext cx="542056" cy="708843"/>
          </a:xfrm>
          <a:prstGeom prst="roundRect">
            <a:avLst>
              <a:gd name="adj" fmla="val 10121"/>
            </a:avLst>
          </a:prstGeom>
          <a:solidFill>
            <a:srgbClr val="05070A"/>
          </a:solidFill>
          <a:ln w="12700">
            <a:solidFill>
              <a:srgbClr val="333333"/>
            </a:solidFill>
            <a:prstDash val="solid"/>
          </a:ln>
        </p:spPr>
      </p:sp>
      <p:sp>
        <p:nvSpPr>
          <p:cNvPr id="35" name="Shape 33"/>
          <p:cNvSpPr/>
          <p:nvPr/>
        </p:nvSpPr>
        <p:spPr>
          <a:xfrm>
            <a:off x="2057400" y="3456432"/>
            <a:ext cx="4160520" cy="402336"/>
          </a:xfrm>
          <a:prstGeom prst="roundRect">
            <a:avLst>
              <a:gd name="adj" fmla="val 18182"/>
            </a:avLst>
          </a:prstGeom>
          <a:solidFill>
            <a:srgbClr val="05070B"/>
          </a:solidFill>
          <a:ln w="12700">
            <a:solidFill>
              <a:srgbClr val="2E3543"/>
            </a:solidFill>
            <a:prstDash val="solid"/>
          </a:ln>
        </p:spPr>
      </p:sp>
      <p:sp>
        <p:nvSpPr>
          <p:cNvPr id="36" name="Text 34"/>
          <p:cNvSpPr txBox="1"/>
          <p:nvPr/>
        </p:nvSpPr>
        <p:spPr>
          <a:xfrm>
            <a:off x="2130552" y="3456432"/>
            <a:ext cx="4014216" cy="402336"/>
          </a:xfrm>
          <a:prstGeom prst="rect">
            <a:avLst/>
          </a:prstGeom>
          <a:noFill/>
          <a:ln/>
        </p:spPr>
        <p:txBody>
          <a:bodyPr wrap="square" lIns="0" tIns="0" rIns="0" bIns="0" rtlCol="0" anchor="ctr"/>
          <a:lstStyle/>
          <a:p>
            <a:pPr algn="ctr" indent="0" marL="0">
              <a:buNone/>
            </a:pPr>
            <a:r>
              <a:rPr lang="en-US" sz="1150" dirty="0">
                <a:solidFill>
                  <a:srgbClr val="F4F6FA"/>
                </a:solidFill>
                <a:latin typeface="Arial" pitchFamily="34" charset="0"/>
                <a:ea typeface="Arial" pitchFamily="34" charset="-122"/>
                <a:cs typeface="Arial" pitchFamily="34" charset="-120"/>
              </a:rPr>
              <a:t>[low, tense music builds as footsteps approach]</a:t>
            </a:r>
            <a:endParaRPr lang="en-US" sz="1150" dirty="0"/>
          </a:p>
        </p:txBody>
      </p:sp>
      <p:sp>
        <p:nvSpPr>
          <p:cNvPr id="37" name="Shape 35"/>
          <p:cNvSpPr/>
          <p:nvPr/>
        </p:nvSpPr>
        <p:spPr>
          <a:xfrm>
            <a:off x="5897880" y="1664208"/>
            <a:ext cx="1417320" cy="329184"/>
          </a:xfrm>
          <a:prstGeom prst="roundRect">
            <a:avLst>
              <a:gd name="adj" fmla="val 22222"/>
            </a:avLst>
          </a:prstGeom>
          <a:solidFill>
            <a:srgbClr val="05070B"/>
          </a:solidFill>
          <a:ln w="12700">
            <a:solidFill>
              <a:srgbClr val="F0B429"/>
            </a:solidFill>
            <a:prstDash val="solid"/>
          </a:ln>
        </p:spPr>
      </p:sp>
      <p:sp>
        <p:nvSpPr>
          <p:cNvPr id="38" name="Text 36"/>
          <p:cNvSpPr txBox="1"/>
          <p:nvPr/>
        </p:nvSpPr>
        <p:spPr>
          <a:xfrm>
            <a:off x="5897880" y="1664208"/>
            <a:ext cx="1417320" cy="329184"/>
          </a:xfrm>
          <a:prstGeom prst="rect">
            <a:avLst/>
          </a:prstGeom>
          <a:noFill/>
          <a:ln/>
        </p:spPr>
        <p:txBody>
          <a:bodyPr wrap="square" lIns="0" tIns="0" rIns="0" bIns="0" rtlCol="0" anchor="ctr"/>
          <a:lstStyle/>
          <a:p>
            <a:pPr algn="ctr" indent="0" marL="0">
              <a:buNone/>
            </a:pPr>
            <a:r>
              <a:rPr lang="en-US" sz="950" b="1" dirty="0">
                <a:solidFill>
                  <a:srgbClr val="F0B429"/>
                </a:solidFill>
                <a:latin typeface="Arial" pitchFamily="34" charset="0"/>
                <a:ea typeface="Arial" pitchFamily="34" charset="-122"/>
                <a:cs typeface="Arial" pitchFamily="34" charset="-120"/>
              </a:rPr>
              <a:t>Show original</a:t>
            </a:r>
            <a:endParaRPr lang="en-US" sz="950" dirty="0"/>
          </a:p>
        </p:txBody>
      </p:sp>
      <p:sp>
        <p:nvSpPr>
          <p:cNvPr id="39" name="Shape 37"/>
          <p:cNvSpPr/>
          <p:nvPr/>
        </p:nvSpPr>
        <p:spPr>
          <a:xfrm>
            <a:off x="795528" y="4224528"/>
            <a:ext cx="6684264" cy="64008"/>
          </a:xfrm>
          <a:prstGeom prst="roundRect">
            <a:avLst>
              <a:gd name="adj" fmla="val 42857"/>
            </a:avLst>
          </a:prstGeom>
          <a:solidFill>
            <a:srgbClr val="39404E"/>
          </a:solidFill>
          <a:ln w="12700">
            <a:solidFill>
              <a:srgbClr val="333333"/>
            </a:solidFill>
            <a:prstDash val="solid"/>
          </a:ln>
        </p:spPr>
      </p:sp>
      <p:sp>
        <p:nvSpPr>
          <p:cNvPr id="40" name="Shape 38"/>
          <p:cNvSpPr/>
          <p:nvPr/>
        </p:nvSpPr>
        <p:spPr>
          <a:xfrm>
            <a:off x="795528" y="4224528"/>
            <a:ext cx="2540020" cy="64008"/>
          </a:xfrm>
          <a:prstGeom prst="roundRect">
            <a:avLst>
              <a:gd name="adj" fmla="val 42857"/>
            </a:avLst>
          </a:prstGeom>
          <a:solidFill>
            <a:srgbClr val="F0B429"/>
          </a:solidFill>
          <a:ln w="12700">
            <a:solidFill>
              <a:srgbClr val="333333"/>
            </a:solidFill>
            <a:prstDash val="solid"/>
          </a:ln>
        </p:spPr>
      </p:sp>
      <p:sp>
        <p:nvSpPr>
          <p:cNvPr id="41" name="Shape 39"/>
          <p:cNvSpPr/>
          <p:nvPr/>
        </p:nvSpPr>
        <p:spPr>
          <a:xfrm>
            <a:off x="3271540" y="4192524"/>
            <a:ext cx="128016" cy="128016"/>
          </a:xfrm>
          <a:prstGeom prst="ellipse">
            <a:avLst/>
          </a:prstGeom>
          <a:solidFill>
            <a:srgbClr val="F0B429"/>
          </a:solidFill>
          <a:ln w="12700">
            <a:solidFill>
              <a:srgbClr val="333333"/>
            </a:solidFill>
            <a:prstDash val="solid"/>
          </a:ln>
        </p:spPr>
      </p:sp>
      <p:sp>
        <p:nvSpPr>
          <p:cNvPr id="42" name="Shape 40"/>
          <p:cNvSpPr/>
          <p:nvPr/>
        </p:nvSpPr>
        <p:spPr>
          <a:xfrm rot="5400000">
            <a:off x="795528" y="4462272"/>
            <a:ext cx="146304" cy="164592"/>
          </a:xfrm>
          <a:prstGeom prst="triangle">
            <a:avLst/>
          </a:prstGeom>
          <a:solidFill>
            <a:srgbClr val="F4F6FA"/>
          </a:solidFill>
          <a:ln w="12700">
            <a:solidFill>
              <a:srgbClr val="333333"/>
            </a:solidFill>
            <a:prstDash val="solid"/>
          </a:ln>
        </p:spPr>
      </p:sp>
      <p:sp>
        <p:nvSpPr>
          <p:cNvPr id="43" name="Shape 41"/>
          <p:cNvSpPr/>
          <p:nvPr/>
        </p:nvSpPr>
        <p:spPr>
          <a:xfrm>
            <a:off x="1069848" y="4471416"/>
            <a:ext cx="45720" cy="146304"/>
          </a:xfrm>
          <a:prstGeom prst="rect">
            <a:avLst/>
          </a:prstGeom>
          <a:solidFill>
            <a:srgbClr val="9AA3B4"/>
          </a:solidFill>
          <a:ln w="12700">
            <a:solidFill>
              <a:srgbClr val="333333"/>
            </a:solidFill>
            <a:prstDash val="solid"/>
          </a:ln>
        </p:spPr>
      </p:sp>
      <p:sp>
        <p:nvSpPr>
          <p:cNvPr id="44" name="Shape 42"/>
          <p:cNvSpPr/>
          <p:nvPr/>
        </p:nvSpPr>
        <p:spPr>
          <a:xfrm>
            <a:off x="1152144" y="4471416"/>
            <a:ext cx="45720" cy="146304"/>
          </a:xfrm>
          <a:prstGeom prst="rect">
            <a:avLst/>
          </a:prstGeom>
          <a:solidFill>
            <a:srgbClr val="9AA3B4"/>
          </a:solidFill>
          <a:ln w="12700">
            <a:solidFill>
              <a:srgbClr val="333333"/>
            </a:solidFill>
            <a:prstDash val="solid"/>
          </a:ln>
        </p:spPr>
      </p:sp>
      <p:sp>
        <p:nvSpPr>
          <p:cNvPr id="45" name="Text 43"/>
          <p:cNvSpPr txBox="1"/>
          <p:nvPr/>
        </p:nvSpPr>
        <p:spPr>
          <a:xfrm>
            <a:off x="5650992" y="4425696"/>
            <a:ext cx="1828800" cy="256032"/>
          </a:xfrm>
          <a:prstGeom prst="rect">
            <a:avLst/>
          </a:prstGeom>
          <a:noFill/>
          <a:ln/>
        </p:spPr>
        <p:txBody>
          <a:bodyPr wrap="square" lIns="0" tIns="0" rIns="0" bIns="0" rtlCol="0" anchor="ctr"/>
          <a:lstStyle/>
          <a:p>
            <a:pPr algn="r" indent="0" marL="0">
              <a:buNone/>
            </a:pPr>
            <a:r>
              <a:rPr lang="en-US" sz="900" dirty="0">
                <a:solidFill>
                  <a:srgbClr val="6C7585"/>
                </a:solidFill>
                <a:latin typeface="Arial" pitchFamily="34" charset="0"/>
                <a:ea typeface="Arial" pitchFamily="34" charset="-122"/>
                <a:cs typeface="Arial" pitchFamily="34" charset="-120"/>
              </a:rPr>
              <a:t>00:08:14 / 00:26:02</a:t>
            </a:r>
            <a:endParaRPr lang="en-US" sz="900" dirty="0"/>
          </a:p>
        </p:txBody>
      </p:sp>
      <p:sp>
        <p:nvSpPr>
          <p:cNvPr id="46" name="Shape 44"/>
          <p:cNvSpPr/>
          <p:nvPr/>
        </p:nvSpPr>
        <p:spPr>
          <a:xfrm>
            <a:off x="795528" y="4773168"/>
            <a:ext cx="2880360" cy="960120"/>
          </a:xfrm>
          <a:prstGeom prst="roundRect">
            <a:avLst>
              <a:gd name="adj" fmla="val 9524"/>
            </a:avLst>
          </a:prstGeom>
          <a:solidFill>
            <a:srgbClr val="1E232D"/>
          </a:solidFill>
          <a:ln w="12700">
            <a:solidFill>
              <a:srgbClr val="2E3543"/>
            </a:solidFill>
            <a:prstDash val="solid"/>
          </a:ln>
        </p:spPr>
      </p:sp>
      <p:sp>
        <p:nvSpPr>
          <p:cNvPr id="47" name="Text 45"/>
          <p:cNvSpPr txBox="1"/>
          <p:nvPr/>
        </p:nvSpPr>
        <p:spPr>
          <a:xfrm>
            <a:off x="978408" y="4901184"/>
            <a:ext cx="2377440" cy="228600"/>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Caption profile</a:t>
            </a:r>
            <a:endParaRPr lang="en-US" sz="900" dirty="0"/>
          </a:p>
        </p:txBody>
      </p:sp>
      <p:sp>
        <p:nvSpPr>
          <p:cNvPr id="48" name="Shape 46"/>
          <p:cNvSpPr/>
          <p:nvPr/>
        </p:nvSpPr>
        <p:spPr>
          <a:xfrm>
            <a:off x="978408" y="5193792"/>
            <a:ext cx="1133856" cy="329184"/>
          </a:xfrm>
          <a:prstGeom prst="roundRect">
            <a:avLst>
              <a:gd name="adj" fmla="val 22222"/>
            </a:avLst>
          </a:prstGeom>
          <a:solidFill>
            <a:srgbClr val="11151D"/>
          </a:solidFill>
          <a:ln w="12700">
            <a:solidFill>
              <a:srgbClr val="2E3543"/>
            </a:solidFill>
            <a:prstDash val="solid"/>
          </a:ln>
        </p:spPr>
      </p:sp>
      <p:sp>
        <p:nvSpPr>
          <p:cNvPr id="49" name="Text 47"/>
          <p:cNvSpPr txBox="1"/>
          <p:nvPr/>
        </p:nvSpPr>
        <p:spPr>
          <a:xfrm>
            <a:off x="978408" y="5193792"/>
            <a:ext cx="1133856" cy="329184"/>
          </a:xfrm>
          <a:prstGeom prst="rect">
            <a:avLst/>
          </a:prstGeom>
          <a:noFill/>
          <a:ln/>
        </p:spPr>
        <p:txBody>
          <a:bodyPr wrap="square" lIns="0" tIns="0" rIns="0" bIns="0" rtlCol="0" anchor="ctr"/>
          <a:lstStyle/>
          <a:p>
            <a:pPr algn="ctr" indent="0" marL="0">
              <a:buNone/>
            </a:pPr>
            <a:r>
              <a:rPr lang="en-US" sz="1000" dirty="0">
                <a:solidFill>
                  <a:srgbClr val="9AA3B4"/>
                </a:solidFill>
                <a:latin typeface="Arial" pitchFamily="34" charset="0"/>
                <a:ea typeface="Arial" pitchFamily="34" charset="-122"/>
                <a:cs typeface="Arial" pitchFamily="34" charset="-120"/>
              </a:rPr>
              <a:t>Concise</a:t>
            </a:r>
            <a:endParaRPr lang="en-US" sz="1000" dirty="0"/>
          </a:p>
        </p:txBody>
      </p:sp>
      <p:sp>
        <p:nvSpPr>
          <p:cNvPr id="50" name="Shape 48"/>
          <p:cNvSpPr/>
          <p:nvPr/>
        </p:nvSpPr>
        <p:spPr>
          <a:xfrm>
            <a:off x="2203704" y="5193792"/>
            <a:ext cx="1133856" cy="329184"/>
          </a:xfrm>
          <a:prstGeom prst="roundRect">
            <a:avLst>
              <a:gd name="adj" fmla="val 22222"/>
            </a:avLst>
          </a:prstGeom>
          <a:solidFill>
            <a:srgbClr val="F0B429"/>
          </a:solidFill>
          <a:ln w="12700">
            <a:solidFill>
              <a:srgbClr val="F0B429"/>
            </a:solidFill>
            <a:prstDash val="solid"/>
          </a:ln>
        </p:spPr>
      </p:sp>
      <p:sp>
        <p:nvSpPr>
          <p:cNvPr id="51" name="Text 49"/>
          <p:cNvSpPr txBox="1"/>
          <p:nvPr/>
        </p:nvSpPr>
        <p:spPr>
          <a:xfrm>
            <a:off x="2203704" y="5193792"/>
            <a:ext cx="1133856" cy="329184"/>
          </a:xfrm>
          <a:prstGeom prst="rect">
            <a:avLst/>
          </a:prstGeom>
          <a:noFill/>
          <a:ln/>
        </p:spPr>
        <p:txBody>
          <a:bodyPr wrap="square" lIns="0" tIns="0" rIns="0" bIns="0" rtlCol="0" anchor="ctr"/>
          <a:lstStyle/>
          <a:p>
            <a:pPr algn="ctr" indent="0" marL="0">
              <a:buNone/>
            </a:pPr>
            <a:r>
              <a:rPr lang="en-US" sz="1000" b="1" dirty="0">
                <a:solidFill>
                  <a:srgbClr val="0B0D12"/>
                </a:solidFill>
                <a:latin typeface="Arial" pitchFamily="34" charset="0"/>
                <a:ea typeface="Arial" pitchFamily="34" charset="-122"/>
                <a:cs typeface="Arial" pitchFamily="34" charset="-120"/>
              </a:rPr>
              <a:t>Descriptive</a:t>
            </a:r>
            <a:endParaRPr lang="en-US" sz="1000" dirty="0"/>
          </a:p>
        </p:txBody>
      </p:sp>
      <p:sp>
        <p:nvSpPr>
          <p:cNvPr id="52" name="Shape 50"/>
          <p:cNvSpPr/>
          <p:nvPr/>
        </p:nvSpPr>
        <p:spPr>
          <a:xfrm>
            <a:off x="3886200" y="4773168"/>
            <a:ext cx="3593592" cy="960120"/>
          </a:xfrm>
          <a:prstGeom prst="roundRect">
            <a:avLst>
              <a:gd name="adj" fmla="val 9524"/>
            </a:avLst>
          </a:prstGeom>
          <a:solidFill>
            <a:srgbClr val="1E232D"/>
          </a:solidFill>
          <a:ln w="12700">
            <a:solidFill>
              <a:srgbClr val="2E3543"/>
            </a:solidFill>
            <a:prstDash val="solid"/>
          </a:ln>
        </p:spPr>
      </p:sp>
      <p:sp>
        <p:nvSpPr>
          <p:cNvPr id="53" name="Text 51"/>
          <p:cNvSpPr txBox="1"/>
          <p:nvPr/>
        </p:nvSpPr>
        <p:spPr>
          <a:xfrm>
            <a:off x="4069080" y="4864608"/>
            <a:ext cx="2194560" cy="219456"/>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Preview before applying</a:t>
            </a:r>
            <a:endParaRPr lang="en-US" sz="900" dirty="0"/>
          </a:p>
        </p:txBody>
      </p:sp>
      <p:sp>
        <p:nvSpPr>
          <p:cNvPr id="54" name="Text 52"/>
          <p:cNvSpPr txBox="1"/>
          <p:nvPr/>
        </p:nvSpPr>
        <p:spPr>
          <a:xfrm>
            <a:off x="4069080" y="5084064"/>
            <a:ext cx="2240280" cy="219456"/>
          </a:xfrm>
          <a:prstGeom prst="rect">
            <a:avLst/>
          </a:prstGeom>
          <a:noFill/>
          <a:ln/>
        </p:spPr>
        <p:txBody>
          <a:bodyPr wrap="square" lIns="0" tIns="0" rIns="0" bIns="0" rtlCol="0" anchor="ctr"/>
          <a:lstStyle/>
          <a:p>
            <a:pPr indent="0" marL="0">
              <a:buNone/>
            </a:pPr>
            <a:r>
              <a:rPr lang="en-US" sz="950" strike="sngStrike" dirty="0">
                <a:solidFill>
                  <a:srgbClr val="6C7585"/>
                </a:solidFill>
                <a:latin typeface="Arial" pitchFamily="34" charset="0"/>
                <a:ea typeface="Arial" pitchFamily="34" charset="-122"/>
                <a:cs typeface="Arial" pitchFamily="34" charset="-120"/>
              </a:rPr>
              <a:t>[music playing]</a:t>
            </a:r>
            <a:endParaRPr lang="en-US" sz="950" dirty="0"/>
          </a:p>
        </p:txBody>
      </p:sp>
      <p:sp>
        <p:nvSpPr>
          <p:cNvPr id="55" name="Text 53"/>
          <p:cNvSpPr txBox="1"/>
          <p:nvPr/>
        </p:nvSpPr>
        <p:spPr>
          <a:xfrm>
            <a:off x="4069080" y="5303520"/>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F0B429"/>
                </a:solidFill>
                <a:latin typeface="Arial" pitchFamily="34" charset="0"/>
                <a:ea typeface="Arial" pitchFamily="34" charset="-122"/>
                <a:cs typeface="Arial" pitchFamily="34" charset="-120"/>
              </a:rPr>
              <a:t>[gentle piano music plays in the background]</a:t>
            </a:r>
            <a:endParaRPr lang="en-US" sz="950" dirty="0"/>
          </a:p>
        </p:txBody>
      </p:sp>
      <p:sp>
        <p:nvSpPr>
          <p:cNvPr id="56" name="Shape 54"/>
          <p:cNvSpPr/>
          <p:nvPr/>
        </p:nvSpPr>
        <p:spPr>
          <a:xfrm>
            <a:off x="6373368" y="4937760"/>
            <a:ext cx="896112" cy="292608"/>
          </a:xfrm>
          <a:prstGeom prst="roundRect">
            <a:avLst>
              <a:gd name="adj" fmla="val 21875"/>
            </a:avLst>
          </a:prstGeom>
          <a:solidFill>
            <a:srgbClr val="F0B429"/>
          </a:solidFill>
          <a:ln w="12700">
            <a:solidFill>
              <a:srgbClr val="333333"/>
            </a:solidFill>
            <a:prstDash val="solid"/>
          </a:ln>
        </p:spPr>
      </p:sp>
      <p:sp>
        <p:nvSpPr>
          <p:cNvPr id="57" name="Text 55"/>
          <p:cNvSpPr txBox="1"/>
          <p:nvPr/>
        </p:nvSpPr>
        <p:spPr>
          <a:xfrm>
            <a:off x="6373368" y="4937760"/>
            <a:ext cx="896112" cy="292608"/>
          </a:xfrm>
          <a:prstGeom prst="rect">
            <a:avLst/>
          </a:prstGeom>
          <a:noFill/>
          <a:ln/>
        </p:spPr>
        <p:txBody>
          <a:bodyPr wrap="square" lIns="0" tIns="0" rIns="0" bIns="0" rtlCol="0" anchor="ctr"/>
          <a:lstStyle/>
          <a:p>
            <a:pPr algn="ctr" indent="0" marL="0">
              <a:buNone/>
            </a:pPr>
            <a:r>
              <a:rPr lang="en-US" sz="1000" b="1" dirty="0">
                <a:solidFill>
                  <a:srgbClr val="0B0D12"/>
                </a:solidFill>
                <a:latin typeface="Arial" pitchFamily="34" charset="0"/>
                <a:ea typeface="Arial" pitchFamily="34" charset="-122"/>
                <a:cs typeface="Arial" pitchFamily="34" charset="-120"/>
              </a:rPr>
              <a:t>Apply</a:t>
            </a:r>
            <a:endParaRPr lang="en-US" sz="1000" dirty="0"/>
          </a:p>
        </p:txBody>
      </p:sp>
      <p:sp>
        <p:nvSpPr>
          <p:cNvPr id="58" name="Shape 56"/>
          <p:cNvSpPr/>
          <p:nvPr/>
        </p:nvSpPr>
        <p:spPr>
          <a:xfrm>
            <a:off x="6373368" y="5285232"/>
            <a:ext cx="896112" cy="292608"/>
          </a:xfrm>
          <a:prstGeom prst="roundRect">
            <a:avLst>
              <a:gd name="adj" fmla="val 21875"/>
            </a:avLst>
          </a:prstGeom>
          <a:solidFill>
            <a:srgbClr val="11151D"/>
          </a:solidFill>
          <a:ln w="12700">
            <a:solidFill>
              <a:srgbClr val="2E3543"/>
            </a:solidFill>
            <a:prstDash val="solid"/>
          </a:ln>
        </p:spPr>
      </p:sp>
      <p:sp>
        <p:nvSpPr>
          <p:cNvPr id="59" name="Text 57"/>
          <p:cNvSpPr txBox="1"/>
          <p:nvPr/>
        </p:nvSpPr>
        <p:spPr>
          <a:xfrm>
            <a:off x="6373368" y="5285232"/>
            <a:ext cx="896112" cy="292608"/>
          </a:xfrm>
          <a:prstGeom prst="rect">
            <a:avLst/>
          </a:prstGeom>
          <a:noFill/>
          <a:ln/>
        </p:spPr>
        <p:txBody>
          <a:bodyPr wrap="square" lIns="0" tIns="0" rIns="0" bIns="0" rtlCol="0" anchor="ctr"/>
          <a:lstStyle/>
          <a:p>
            <a:pPr algn="ctr" indent="0" marL="0">
              <a:buNone/>
            </a:pPr>
            <a:r>
              <a:rPr lang="en-US" sz="800" dirty="0">
                <a:solidFill>
                  <a:srgbClr val="9AA3B4"/>
                </a:solidFill>
                <a:latin typeface="Arial" pitchFamily="34" charset="0"/>
                <a:ea typeface="Arial" pitchFamily="34" charset="-122"/>
                <a:cs typeface="Arial" pitchFamily="34" charset="-120"/>
              </a:rPr>
              <a:t>Keep original</a:t>
            </a:r>
            <a:endParaRPr lang="en-US" sz="800" dirty="0"/>
          </a:p>
        </p:txBody>
      </p:sp>
      <p:sp>
        <p:nvSpPr>
          <p:cNvPr id="60" name="Shape 58"/>
          <p:cNvSpPr/>
          <p:nvPr/>
        </p:nvSpPr>
        <p:spPr>
          <a:xfrm>
            <a:off x="7955280" y="1280160"/>
            <a:ext cx="3566160" cy="1371600"/>
          </a:xfrm>
          <a:prstGeom prst="roundRect">
            <a:avLst>
              <a:gd name="adj" fmla="val 9333"/>
            </a:avLst>
          </a:prstGeom>
          <a:solidFill>
            <a:srgbClr val="161A22"/>
          </a:solidFill>
          <a:ln w="12700">
            <a:solidFill>
              <a:srgbClr val="2E3543"/>
            </a:solidFill>
            <a:prstDash val="solid"/>
          </a:ln>
        </p:spPr>
      </p:sp>
      <p:sp>
        <p:nvSpPr>
          <p:cNvPr id="61" name="Shape 59"/>
          <p:cNvSpPr/>
          <p:nvPr/>
        </p:nvSpPr>
        <p:spPr>
          <a:xfrm>
            <a:off x="8211312" y="1499616"/>
            <a:ext cx="329184" cy="329184"/>
          </a:xfrm>
          <a:prstGeom prst="ellipse">
            <a:avLst/>
          </a:prstGeom>
          <a:solidFill>
            <a:srgbClr val="F0B429"/>
          </a:solidFill>
          <a:ln w="12700">
            <a:solidFill>
              <a:srgbClr val="333333"/>
            </a:solidFill>
            <a:prstDash val="solid"/>
          </a:ln>
        </p:spPr>
      </p:sp>
      <p:sp>
        <p:nvSpPr>
          <p:cNvPr id="62" name="Text 60"/>
          <p:cNvSpPr txBox="1"/>
          <p:nvPr/>
        </p:nvSpPr>
        <p:spPr>
          <a:xfrm>
            <a:off x="8211312" y="1499616"/>
            <a:ext cx="329184" cy="329184"/>
          </a:xfrm>
          <a:prstGeom prst="rect">
            <a:avLst/>
          </a:prstGeom>
          <a:noFill/>
          <a:ln/>
        </p:spPr>
        <p:txBody>
          <a:bodyPr wrap="square" lIns="0" tIns="0" rIns="0" bIns="0" rtlCol="0" anchor="ctr"/>
          <a:lstStyle/>
          <a:p>
            <a:pPr algn="ctr" indent="0" marL="0">
              <a:buNone/>
            </a:pPr>
            <a:r>
              <a:rPr lang="en-US" sz="1400" b="1" dirty="0">
                <a:solidFill>
                  <a:srgbClr val="0B0D12"/>
                </a:solidFill>
                <a:latin typeface="Arial" pitchFamily="34" charset="0"/>
                <a:ea typeface="Arial" pitchFamily="34" charset="-122"/>
                <a:cs typeface="Arial" pitchFamily="34" charset="-120"/>
              </a:rPr>
              <a:t>1</a:t>
            </a:r>
            <a:endParaRPr lang="en-US" sz="1400" dirty="0"/>
          </a:p>
        </p:txBody>
      </p:sp>
      <p:sp>
        <p:nvSpPr>
          <p:cNvPr id="63" name="Text 61"/>
          <p:cNvSpPr txBox="1"/>
          <p:nvPr/>
        </p:nvSpPr>
        <p:spPr>
          <a:xfrm>
            <a:off x="8650224" y="1481328"/>
            <a:ext cx="2651760" cy="365760"/>
          </a:xfrm>
          <a:prstGeom prst="rect">
            <a:avLst/>
          </a:prstGeom>
          <a:noFill/>
          <a:ln/>
        </p:spPr>
        <p:txBody>
          <a:bodyPr wrap="square" lIns="0" tIns="0" rIns="0" bIns="0" rtlCol="0" anchor="ctr"/>
          <a:lstStyle/>
          <a:p>
            <a:pPr indent="0" marL="0">
              <a:buNone/>
            </a:pPr>
            <a:r>
              <a:rPr lang="en-US" sz="1400" b="1" dirty="0">
                <a:solidFill>
                  <a:srgbClr val="F4F6FA"/>
                </a:solidFill>
                <a:latin typeface="Arial" pitchFamily="34" charset="0"/>
                <a:ea typeface="Arial" pitchFamily="34" charset="-122"/>
                <a:cs typeface="Arial" pitchFamily="34" charset="-120"/>
              </a:rPr>
              <a:t>Saved profile</a:t>
            </a:r>
            <a:endParaRPr lang="en-US" sz="1400" dirty="0"/>
          </a:p>
        </p:txBody>
      </p:sp>
      <p:sp>
        <p:nvSpPr>
          <p:cNvPr id="64" name="Text 62"/>
          <p:cNvSpPr txBox="1"/>
          <p:nvPr/>
        </p:nvSpPr>
        <p:spPr>
          <a:xfrm>
            <a:off x="8211312" y="1920240"/>
            <a:ext cx="3063240" cy="621792"/>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Arial" pitchFamily="34" charset="0"/>
                <a:ea typeface="Arial" pitchFamily="34" charset="-122"/>
                <a:cs typeface="Arial" pitchFamily="34" charset="-120"/>
              </a:rPr>
              <a:t>Your caption preference stays consistent for the whole video — set once, not every scene.</a:t>
            </a:r>
            <a:endParaRPr lang="en-US" sz="1050" dirty="0"/>
          </a:p>
        </p:txBody>
      </p:sp>
      <p:sp>
        <p:nvSpPr>
          <p:cNvPr id="65" name="Shape 63"/>
          <p:cNvSpPr/>
          <p:nvPr/>
        </p:nvSpPr>
        <p:spPr>
          <a:xfrm>
            <a:off x="7955280" y="2852928"/>
            <a:ext cx="3566160" cy="1371600"/>
          </a:xfrm>
          <a:prstGeom prst="roundRect">
            <a:avLst>
              <a:gd name="adj" fmla="val 9333"/>
            </a:avLst>
          </a:prstGeom>
          <a:solidFill>
            <a:srgbClr val="161A22"/>
          </a:solidFill>
          <a:ln w="12700">
            <a:solidFill>
              <a:srgbClr val="2E3543"/>
            </a:solidFill>
            <a:prstDash val="solid"/>
          </a:ln>
        </p:spPr>
      </p:sp>
      <p:sp>
        <p:nvSpPr>
          <p:cNvPr id="66" name="Shape 64"/>
          <p:cNvSpPr/>
          <p:nvPr/>
        </p:nvSpPr>
        <p:spPr>
          <a:xfrm>
            <a:off x="8211312" y="3072384"/>
            <a:ext cx="329184" cy="329184"/>
          </a:xfrm>
          <a:prstGeom prst="ellipse">
            <a:avLst/>
          </a:prstGeom>
          <a:solidFill>
            <a:srgbClr val="F0B429"/>
          </a:solidFill>
          <a:ln w="12700">
            <a:solidFill>
              <a:srgbClr val="333333"/>
            </a:solidFill>
            <a:prstDash val="solid"/>
          </a:ln>
        </p:spPr>
      </p:sp>
      <p:sp>
        <p:nvSpPr>
          <p:cNvPr id="67" name="Text 65"/>
          <p:cNvSpPr txBox="1"/>
          <p:nvPr/>
        </p:nvSpPr>
        <p:spPr>
          <a:xfrm>
            <a:off x="8211312" y="3072384"/>
            <a:ext cx="329184" cy="329184"/>
          </a:xfrm>
          <a:prstGeom prst="rect">
            <a:avLst/>
          </a:prstGeom>
          <a:noFill/>
          <a:ln/>
        </p:spPr>
        <p:txBody>
          <a:bodyPr wrap="square" lIns="0" tIns="0" rIns="0" bIns="0" rtlCol="0" anchor="ctr"/>
          <a:lstStyle/>
          <a:p>
            <a:pPr algn="ctr" indent="0" marL="0">
              <a:buNone/>
            </a:pPr>
            <a:r>
              <a:rPr lang="en-US" sz="1400" b="1" dirty="0">
                <a:solidFill>
                  <a:srgbClr val="0B0D12"/>
                </a:solidFill>
                <a:latin typeface="Arial" pitchFamily="34" charset="0"/>
                <a:ea typeface="Arial" pitchFamily="34" charset="-122"/>
                <a:cs typeface="Arial" pitchFamily="34" charset="-120"/>
              </a:rPr>
              <a:t>2</a:t>
            </a:r>
            <a:endParaRPr lang="en-US" sz="1400" dirty="0"/>
          </a:p>
        </p:txBody>
      </p:sp>
      <p:sp>
        <p:nvSpPr>
          <p:cNvPr id="68" name="Text 66"/>
          <p:cNvSpPr txBox="1"/>
          <p:nvPr/>
        </p:nvSpPr>
        <p:spPr>
          <a:xfrm>
            <a:off x="8650224" y="3054096"/>
            <a:ext cx="2651760" cy="365760"/>
          </a:xfrm>
          <a:prstGeom prst="rect">
            <a:avLst/>
          </a:prstGeom>
          <a:noFill/>
          <a:ln/>
        </p:spPr>
        <p:txBody>
          <a:bodyPr wrap="square" lIns="0" tIns="0" rIns="0" bIns="0" rtlCol="0" anchor="ctr"/>
          <a:lstStyle/>
          <a:p>
            <a:pPr indent="0" marL="0">
              <a:buNone/>
            </a:pPr>
            <a:r>
              <a:rPr lang="en-US" sz="1400" b="1" dirty="0">
                <a:solidFill>
                  <a:srgbClr val="F4F6FA"/>
                </a:solidFill>
                <a:latin typeface="Arial" pitchFamily="34" charset="0"/>
                <a:ea typeface="Arial" pitchFamily="34" charset="-122"/>
                <a:cs typeface="Arial" pitchFamily="34" charset="-120"/>
              </a:rPr>
              <a:t>Scene-aware</a:t>
            </a:r>
            <a:endParaRPr lang="en-US" sz="1400" dirty="0"/>
          </a:p>
        </p:txBody>
      </p:sp>
      <p:sp>
        <p:nvSpPr>
          <p:cNvPr id="69" name="Text 67"/>
          <p:cNvSpPr txBox="1"/>
          <p:nvPr/>
        </p:nvSpPr>
        <p:spPr>
          <a:xfrm>
            <a:off x="8211312" y="3493008"/>
            <a:ext cx="3063240" cy="621792"/>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Arial" pitchFamily="34" charset="0"/>
                <a:ea typeface="Arial" pitchFamily="34" charset="-122"/>
                <a:cs typeface="Arial" pitchFamily="34" charset="-120"/>
              </a:rPr>
              <a:t>Caption style can shift with scene context: tighter in fast action, fuller when it's quiet.</a:t>
            </a:r>
            <a:endParaRPr lang="en-US" sz="1050" dirty="0"/>
          </a:p>
        </p:txBody>
      </p:sp>
      <p:sp>
        <p:nvSpPr>
          <p:cNvPr id="70" name="Shape 68"/>
          <p:cNvSpPr/>
          <p:nvPr/>
        </p:nvSpPr>
        <p:spPr>
          <a:xfrm>
            <a:off x="7955280" y="4425696"/>
            <a:ext cx="3566160" cy="1371600"/>
          </a:xfrm>
          <a:prstGeom prst="roundRect">
            <a:avLst>
              <a:gd name="adj" fmla="val 9333"/>
            </a:avLst>
          </a:prstGeom>
          <a:solidFill>
            <a:srgbClr val="161A22"/>
          </a:solidFill>
          <a:ln w="12700">
            <a:solidFill>
              <a:srgbClr val="2E3543"/>
            </a:solidFill>
            <a:prstDash val="solid"/>
          </a:ln>
        </p:spPr>
      </p:sp>
      <p:sp>
        <p:nvSpPr>
          <p:cNvPr id="71" name="Shape 69"/>
          <p:cNvSpPr/>
          <p:nvPr/>
        </p:nvSpPr>
        <p:spPr>
          <a:xfrm>
            <a:off x="8211312" y="4645152"/>
            <a:ext cx="329184" cy="329184"/>
          </a:xfrm>
          <a:prstGeom prst="ellipse">
            <a:avLst/>
          </a:prstGeom>
          <a:solidFill>
            <a:srgbClr val="F0B429"/>
          </a:solidFill>
          <a:ln w="12700">
            <a:solidFill>
              <a:srgbClr val="333333"/>
            </a:solidFill>
            <a:prstDash val="solid"/>
          </a:ln>
        </p:spPr>
      </p:sp>
      <p:sp>
        <p:nvSpPr>
          <p:cNvPr id="72" name="Text 70"/>
          <p:cNvSpPr txBox="1"/>
          <p:nvPr/>
        </p:nvSpPr>
        <p:spPr>
          <a:xfrm>
            <a:off x="8211312" y="4645152"/>
            <a:ext cx="329184" cy="329184"/>
          </a:xfrm>
          <a:prstGeom prst="rect">
            <a:avLst/>
          </a:prstGeom>
          <a:noFill/>
          <a:ln/>
        </p:spPr>
        <p:txBody>
          <a:bodyPr wrap="square" lIns="0" tIns="0" rIns="0" bIns="0" rtlCol="0" anchor="ctr"/>
          <a:lstStyle/>
          <a:p>
            <a:pPr algn="ctr" indent="0" marL="0">
              <a:buNone/>
            </a:pPr>
            <a:r>
              <a:rPr lang="en-US" sz="1400" b="1" dirty="0">
                <a:solidFill>
                  <a:srgbClr val="0B0D12"/>
                </a:solidFill>
                <a:latin typeface="Arial" pitchFamily="34" charset="0"/>
                <a:ea typeface="Arial" pitchFamily="34" charset="-122"/>
                <a:cs typeface="Arial" pitchFamily="34" charset="-120"/>
              </a:rPr>
              <a:t>3</a:t>
            </a:r>
            <a:endParaRPr lang="en-US" sz="1400" dirty="0"/>
          </a:p>
        </p:txBody>
      </p:sp>
      <p:sp>
        <p:nvSpPr>
          <p:cNvPr id="73" name="Text 71"/>
          <p:cNvSpPr txBox="1"/>
          <p:nvPr/>
        </p:nvSpPr>
        <p:spPr>
          <a:xfrm>
            <a:off x="8650224" y="4626864"/>
            <a:ext cx="2651760" cy="365760"/>
          </a:xfrm>
          <a:prstGeom prst="rect">
            <a:avLst/>
          </a:prstGeom>
          <a:noFill/>
          <a:ln/>
        </p:spPr>
        <p:txBody>
          <a:bodyPr wrap="square" lIns="0" tIns="0" rIns="0" bIns="0" rtlCol="0" anchor="ctr"/>
          <a:lstStyle/>
          <a:p>
            <a:pPr indent="0" marL="0">
              <a:buNone/>
            </a:pPr>
            <a:r>
              <a:rPr lang="en-US" sz="1400" b="1" dirty="0">
                <a:solidFill>
                  <a:srgbClr val="F4F6FA"/>
                </a:solidFill>
                <a:latin typeface="Arial" pitchFamily="34" charset="0"/>
                <a:ea typeface="Arial" pitchFamily="34" charset="-122"/>
                <a:cs typeface="Arial" pitchFamily="34" charset="-120"/>
              </a:rPr>
              <a:t>Preview + original</a:t>
            </a:r>
            <a:endParaRPr lang="en-US" sz="1400" dirty="0"/>
          </a:p>
        </p:txBody>
      </p:sp>
      <p:sp>
        <p:nvSpPr>
          <p:cNvPr id="74" name="Text 72"/>
          <p:cNvSpPr txBox="1"/>
          <p:nvPr/>
        </p:nvSpPr>
        <p:spPr>
          <a:xfrm>
            <a:off x="8211312" y="5065776"/>
            <a:ext cx="3063240" cy="621792"/>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Arial" pitchFamily="34" charset="0"/>
                <a:ea typeface="Arial" pitchFamily="34" charset="-122"/>
                <a:cs typeface="Arial" pitchFamily="34" charset="-120"/>
              </a:rPr>
              <a:t>See what a setting changes before applying it, and restore the source caption at any time.</a:t>
            </a:r>
            <a:endParaRPr lang="en-US" sz="1050" dirty="0"/>
          </a:p>
        </p:txBody>
      </p:sp>
      <p:sp>
        <p:nvSpPr>
          <p:cNvPr id="75" name="Text 73"/>
          <p:cNvSpPr txBox="1"/>
          <p:nvPr/>
        </p:nvSpPr>
        <p:spPr>
          <a:xfrm>
            <a:off x="594360" y="6236208"/>
            <a:ext cx="10881360" cy="274320"/>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Interface concept by us. Caption wording shown is illustrative, not taken from any study.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p:bgPr>
    </p:bg>
    <p:spTree>
      <p:nvGrpSpPr>
        <p:cNvPr id="1" name=""/>
        <p:cNvGrpSpPr/>
        <p:nvPr/>
      </p:nvGrpSpPr>
      <p:grpSpPr>
        <a:xfrm>
          <a:off x="0" y="0"/>
          <a:ext cx="0" cy="0"/>
          <a:chOff x="0" y="0"/>
          <a:chExt cx="0" cy="0"/>
        </a:xfrm>
      </p:grpSpPr>
      <p:sp>
        <p:nvSpPr>
          <p:cNvPr id="2" name="Text 0"/>
          <p:cNvSpPr txBox="1"/>
          <p:nvPr/>
        </p:nvSpPr>
        <p:spPr>
          <a:xfrm>
            <a:off x="594360" y="384048"/>
            <a:ext cx="10881360" cy="685800"/>
          </a:xfrm>
          <a:prstGeom prst="rect">
            <a:avLst/>
          </a:prstGeom>
          <a:noFill/>
          <a:ln/>
        </p:spPr>
        <p:txBody>
          <a:bodyPr wrap="square" lIns="0" tIns="0" rIns="0" bIns="0" rtlCol="0" anchor="ctr"/>
          <a:lstStyle/>
          <a:p>
            <a:pPr algn="l" indent="0" marL="0">
              <a:buNone/>
            </a:pPr>
            <a:r>
              <a:rPr lang="en-US" sz="3400" b="1" dirty="0">
                <a:solidFill>
                  <a:srgbClr val="F4F6FA"/>
                </a:solidFill>
                <a:latin typeface="Arial" pitchFamily="34" charset="0"/>
                <a:ea typeface="Arial" pitchFamily="34" charset="-122"/>
                <a:cs typeface="Arial" pitchFamily="34" charset="-120"/>
              </a:rPr>
              <a:t>How it works</a:t>
            </a:r>
            <a:endParaRPr lang="en-US" sz="3400" dirty="0"/>
          </a:p>
        </p:txBody>
      </p:sp>
      <p:sp>
        <p:nvSpPr>
          <p:cNvPr id="3" name="Shape 1"/>
          <p:cNvSpPr/>
          <p:nvPr/>
        </p:nvSpPr>
        <p:spPr>
          <a:xfrm>
            <a:off x="9935870" y="530352"/>
            <a:ext cx="1585570" cy="237744"/>
          </a:xfrm>
          <a:prstGeom prst="roundRect">
            <a:avLst>
              <a:gd name="adj" fmla="val 26923"/>
            </a:avLst>
          </a:prstGeom>
          <a:solidFill>
            <a:srgbClr val="3B2F12"/>
          </a:solidFill>
          <a:ln w="12700">
            <a:solidFill>
              <a:srgbClr val="F0B429"/>
            </a:solidFill>
            <a:prstDash val="solid"/>
          </a:ln>
        </p:spPr>
      </p:sp>
      <p:sp>
        <p:nvSpPr>
          <p:cNvPr id="4" name="Text 2"/>
          <p:cNvSpPr txBox="1"/>
          <p:nvPr/>
        </p:nvSpPr>
        <p:spPr>
          <a:xfrm>
            <a:off x="9935870" y="530352"/>
            <a:ext cx="1585570" cy="237744"/>
          </a:xfrm>
          <a:prstGeom prst="rect">
            <a:avLst/>
          </a:prstGeom>
          <a:noFill/>
          <a:ln/>
        </p:spPr>
        <p:txBody>
          <a:bodyPr wrap="square" lIns="0" tIns="0" rIns="0" bIns="0" rtlCol="0" anchor="ctr"/>
          <a:lstStyle/>
          <a:p>
            <a:pPr algn="ctr" indent="0" marL="0">
              <a:buNone/>
            </a:pPr>
            <a:r>
              <a:rPr lang="en-US" sz="900" b="1" spc="80" kern="0" dirty="0">
                <a:solidFill>
                  <a:srgbClr val="F0B429"/>
                </a:solidFill>
                <a:latin typeface="Arial" pitchFamily="34" charset="0"/>
                <a:ea typeface="Arial" pitchFamily="34" charset="-122"/>
                <a:cs typeface="Arial" pitchFamily="34" charset="-120"/>
              </a:rPr>
              <a:t>PROPOSED PIPELINE</a:t>
            </a:r>
            <a:endParaRPr lang="en-US" sz="900" dirty="0"/>
          </a:p>
        </p:txBody>
      </p:sp>
      <p:sp>
        <p:nvSpPr>
          <p:cNvPr id="5" name="Shape 3"/>
          <p:cNvSpPr/>
          <p:nvPr/>
        </p:nvSpPr>
        <p:spPr>
          <a:xfrm>
            <a:off x="594360" y="1234440"/>
            <a:ext cx="1965960" cy="777240"/>
          </a:xfrm>
          <a:prstGeom prst="roundRect">
            <a:avLst>
              <a:gd name="adj" fmla="val 14118"/>
            </a:avLst>
          </a:prstGeom>
          <a:solidFill>
            <a:srgbClr val="161A22"/>
          </a:solidFill>
          <a:ln w="12700">
            <a:solidFill>
              <a:srgbClr val="2E3543"/>
            </a:solidFill>
            <a:prstDash val="solid"/>
          </a:ln>
        </p:spPr>
      </p:sp>
      <p:sp>
        <p:nvSpPr>
          <p:cNvPr id="6" name="Text 4"/>
          <p:cNvSpPr txBox="1"/>
          <p:nvPr/>
        </p:nvSpPr>
        <p:spPr>
          <a:xfrm>
            <a:off x="685800" y="1234440"/>
            <a:ext cx="1783080" cy="777240"/>
          </a:xfrm>
          <a:prstGeom prst="rect">
            <a:avLst/>
          </a:prstGeom>
          <a:noFill/>
          <a:ln/>
        </p:spPr>
        <p:txBody>
          <a:bodyPr wrap="square" lIns="0" tIns="0" rIns="0" bIns="0" rtlCol="0" anchor="ctr"/>
          <a:lstStyle/>
          <a:p>
            <a:pPr algn="ctr" indent="0" marL="0">
              <a:buNone/>
            </a:pPr>
            <a:r>
              <a:rPr lang="en-US" sz="1250" b="1" dirty="0">
                <a:solidFill>
                  <a:srgbClr val="F4F6FA"/>
                </a:solidFill>
                <a:latin typeface="Arial" pitchFamily="34" charset="0"/>
                <a:ea typeface="Arial" pitchFamily="34" charset="-122"/>
                <a:cs typeface="Arial" pitchFamily="34" charset="-120"/>
              </a:rPr>
              <a:t>Video</a:t>
            </a:r>
            <a:endParaRPr lang="en-US" sz="1250" dirty="0"/>
          </a:p>
        </p:txBody>
      </p:sp>
      <p:sp>
        <p:nvSpPr>
          <p:cNvPr id="7" name="Shape 5"/>
          <p:cNvSpPr/>
          <p:nvPr/>
        </p:nvSpPr>
        <p:spPr>
          <a:xfrm>
            <a:off x="2606040" y="1540764"/>
            <a:ext cx="237744" cy="164592"/>
          </a:xfrm>
          <a:prstGeom prst="rightArrow">
            <a:avLst/>
          </a:prstGeom>
          <a:solidFill>
            <a:srgbClr val="2E3543"/>
          </a:solidFill>
          <a:ln w="12700">
            <a:solidFill>
              <a:srgbClr val="2E3543"/>
            </a:solidFill>
            <a:prstDash val="solid"/>
          </a:ln>
        </p:spPr>
      </p:sp>
      <p:sp>
        <p:nvSpPr>
          <p:cNvPr id="8" name="Shape 6"/>
          <p:cNvSpPr/>
          <p:nvPr/>
        </p:nvSpPr>
        <p:spPr>
          <a:xfrm>
            <a:off x="2889504" y="1234440"/>
            <a:ext cx="1965960" cy="777240"/>
          </a:xfrm>
          <a:prstGeom prst="roundRect">
            <a:avLst>
              <a:gd name="adj" fmla="val 14118"/>
            </a:avLst>
          </a:prstGeom>
          <a:solidFill>
            <a:srgbClr val="161A22"/>
          </a:solidFill>
          <a:ln w="12700">
            <a:solidFill>
              <a:srgbClr val="2E3543"/>
            </a:solidFill>
            <a:prstDash val="solid"/>
          </a:ln>
        </p:spPr>
      </p:sp>
      <p:sp>
        <p:nvSpPr>
          <p:cNvPr id="9" name="Text 7"/>
          <p:cNvSpPr txBox="1"/>
          <p:nvPr/>
        </p:nvSpPr>
        <p:spPr>
          <a:xfrm>
            <a:off x="2980944" y="1234440"/>
            <a:ext cx="1783080" cy="777240"/>
          </a:xfrm>
          <a:prstGeom prst="rect">
            <a:avLst/>
          </a:prstGeom>
          <a:noFill/>
          <a:ln/>
        </p:spPr>
        <p:txBody>
          <a:bodyPr wrap="square" lIns="0" tIns="0" rIns="0" bIns="0" rtlCol="0" anchor="ctr"/>
          <a:lstStyle/>
          <a:p>
            <a:pPr algn="ctr" indent="0" marL="0">
              <a:buNone/>
            </a:pPr>
            <a:r>
              <a:rPr lang="en-US" sz="1250" b="1" dirty="0">
                <a:solidFill>
                  <a:srgbClr val="F4F6FA"/>
                </a:solidFill>
                <a:latin typeface="Arial" pitchFamily="34" charset="0"/>
                <a:ea typeface="Arial" pitchFamily="34" charset="-122"/>
                <a:cs typeface="Arial" pitchFamily="34" charset="-120"/>
              </a:rPr>
              <a:t>Original captions</a:t>
            </a:r>
            <a:endParaRPr lang="en-US" sz="1250" dirty="0"/>
          </a:p>
        </p:txBody>
      </p:sp>
      <p:sp>
        <p:nvSpPr>
          <p:cNvPr id="10" name="Shape 8"/>
          <p:cNvSpPr/>
          <p:nvPr/>
        </p:nvSpPr>
        <p:spPr>
          <a:xfrm>
            <a:off x="4901184" y="1540764"/>
            <a:ext cx="237744" cy="164592"/>
          </a:xfrm>
          <a:prstGeom prst="rightArrow">
            <a:avLst/>
          </a:prstGeom>
          <a:solidFill>
            <a:srgbClr val="2E3543"/>
          </a:solidFill>
          <a:ln w="12700">
            <a:solidFill>
              <a:srgbClr val="2E3543"/>
            </a:solidFill>
            <a:prstDash val="solid"/>
          </a:ln>
        </p:spPr>
      </p:sp>
      <p:sp>
        <p:nvSpPr>
          <p:cNvPr id="11" name="Shape 9"/>
          <p:cNvSpPr/>
          <p:nvPr/>
        </p:nvSpPr>
        <p:spPr>
          <a:xfrm>
            <a:off x="5184648" y="1234440"/>
            <a:ext cx="1965960" cy="777240"/>
          </a:xfrm>
          <a:prstGeom prst="roundRect">
            <a:avLst>
              <a:gd name="adj" fmla="val 14118"/>
            </a:avLst>
          </a:prstGeom>
          <a:solidFill>
            <a:srgbClr val="161A22"/>
          </a:solidFill>
          <a:ln w="12700">
            <a:solidFill>
              <a:srgbClr val="2E3543"/>
            </a:solidFill>
            <a:prstDash val="solid"/>
          </a:ln>
        </p:spPr>
      </p:sp>
      <p:sp>
        <p:nvSpPr>
          <p:cNvPr id="12" name="Text 10"/>
          <p:cNvSpPr txBox="1"/>
          <p:nvPr/>
        </p:nvSpPr>
        <p:spPr>
          <a:xfrm>
            <a:off x="5276088" y="1234440"/>
            <a:ext cx="1783080" cy="777240"/>
          </a:xfrm>
          <a:prstGeom prst="rect">
            <a:avLst/>
          </a:prstGeom>
          <a:noFill/>
          <a:ln/>
        </p:spPr>
        <p:txBody>
          <a:bodyPr wrap="square" lIns="0" tIns="0" rIns="0" bIns="0" rtlCol="0" anchor="ctr"/>
          <a:lstStyle/>
          <a:p>
            <a:pPr algn="ctr" indent="0" marL="0">
              <a:buNone/>
            </a:pPr>
            <a:r>
              <a:rPr lang="en-US" sz="1250" b="1" dirty="0">
                <a:solidFill>
                  <a:srgbClr val="F4F6FA"/>
                </a:solidFill>
                <a:latin typeface="Arial" pitchFamily="34" charset="0"/>
                <a:ea typeface="Arial" pitchFamily="34" charset="-122"/>
                <a:cs typeface="Arial" pitchFamily="34" charset="-120"/>
              </a:rPr>
              <a:t>Scene context</a:t>
            </a:r>
            <a:endParaRPr lang="en-US" sz="1250" dirty="0"/>
          </a:p>
        </p:txBody>
      </p:sp>
      <p:sp>
        <p:nvSpPr>
          <p:cNvPr id="13" name="Shape 11"/>
          <p:cNvSpPr/>
          <p:nvPr/>
        </p:nvSpPr>
        <p:spPr>
          <a:xfrm>
            <a:off x="7196328" y="1540764"/>
            <a:ext cx="237744" cy="164592"/>
          </a:xfrm>
          <a:prstGeom prst="rightArrow">
            <a:avLst/>
          </a:prstGeom>
          <a:solidFill>
            <a:srgbClr val="2E3543"/>
          </a:solidFill>
          <a:ln w="12700">
            <a:solidFill>
              <a:srgbClr val="2E3543"/>
            </a:solidFill>
            <a:prstDash val="solid"/>
          </a:ln>
        </p:spPr>
      </p:sp>
      <p:sp>
        <p:nvSpPr>
          <p:cNvPr id="14" name="Shape 12"/>
          <p:cNvSpPr/>
          <p:nvPr/>
        </p:nvSpPr>
        <p:spPr>
          <a:xfrm>
            <a:off x="7479792" y="1234440"/>
            <a:ext cx="1965960" cy="777240"/>
          </a:xfrm>
          <a:prstGeom prst="roundRect">
            <a:avLst>
              <a:gd name="adj" fmla="val 14118"/>
            </a:avLst>
          </a:prstGeom>
          <a:solidFill>
            <a:srgbClr val="3B2F12"/>
          </a:solidFill>
          <a:ln w="12700">
            <a:solidFill>
              <a:srgbClr val="F0B429"/>
            </a:solidFill>
            <a:prstDash val="solid"/>
          </a:ln>
        </p:spPr>
      </p:sp>
      <p:sp>
        <p:nvSpPr>
          <p:cNvPr id="15" name="Text 13"/>
          <p:cNvSpPr txBox="1"/>
          <p:nvPr/>
        </p:nvSpPr>
        <p:spPr>
          <a:xfrm>
            <a:off x="7571232" y="1234440"/>
            <a:ext cx="1783080" cy="777240"/>
          </a:xfrm>
          <a:prstGeom prst="rect">
            <a:avLst/>
          </a:prstGeom>
          <a:noFill/>
          <a:ln/>
        </p:spPr>
        <p:txBody>
          <a:bodyPr wrap="square" lIns="0" tIns="0" rIns="0" bIns="0" rtlCol="0" anchor="ctr"/>
          <a:lstStyle/>
          <a:p>
            <a:pPr algn="ctr" indent="0" marL="0">
              <a:buNone/>
            </a:pPr>
            <a:r>
              <a:rPr lang="en-US" sz="1250" b="1" dirty="0">
                <a:solidFill>
                  <a:srgbClr val="F0B429"/>
                </a:solidFill>
                <a:latin typeface="Arial" pitchFamily="34" charset="0"/>
                <a:ea typeface="Arial" pitchFamily="34" charset="-122"/>
                <a:cs typeface="Arial" pitchFamily="34" charset="-120"/>
              </a:rPr>
              <a:t>Caption adaptation</a:t>
            </a:r>
            <a:endParaRPr lang="en-US" sz="1250" dirty="0"/>
          </a:p>
        </p:txBody>
      </p:sp>
      <p:sp>
        <p:nvSpPr>
          <p:cNvPr id="16" name="Shape 14"/>
          <p:cNvSpPr/>
          <p:nvPr/>
        </p:nvSpPr>
        <p:spPr>
          <a:xfrm>
            <a:off x="9491472" y="1540764"/>
            <a:ext cx="237744" cy="164592"/>
          </a:xfrm>
          <a:prstGeom prst="rightArrow">
            <a:avLst/>
          </a:prstGeom>
          <a:solidFill>
            <a:srgbClr val="2E3543"/>
          </a:solidFill>
          <a:ln w="12700">
            <a:solidFill>
              <a:srgbClr val="2E3543"/>
            </a:solidFill>
            <a:prstDash val="solid"/>
          </a:ln>
        </p:spPr>
      </p:sp>
      <p:sp>
        <p:nvSpPr>
          <p:cNvPr id="17" name="Shape 15"/>
          <p:cNvSpPr/>
          <p:nvPr/>
        </p:nvSpPr>
        <p:spPr>
          <a:xfrm>
            <a:off x="9774936" y="1234440"/>
            <a:ext cx="1965960" cy="777240"/>
          </a:xfrm>
          <a:prstGeom prst="roundRect">
            <a:avLst>
              <a:gd name="adj" fmla="val 14118"/>
            </a:avLst>
          </a:prstGeom>
          <a:solidFill>
            <a:srgbClr val="161A22"/>
          </a:solidFill>
          <a:ln w="12700">
            <a:solidFill>
              <a:srgbClr val="2E3543"/>
            </a:solidFill>
            <a:prstDash val="solid"/>
          </a:ln>
        </p:spPr>
      </p:sp>
      <p:sp>
        <p:nvSpPr>
          <p:cNvPr id="18" name="Text 16"/>
          <p:cNvSpPr txBox="1"/>
          <p:nvPr/>
        </p:nvSpPr>
        <p:spPr>
          <a:xfrm>
            <a:off x="9866376" y="1234440"/>
            <a:ext cx="1783080" cy="777240"/>
          </a:xfrm>
          <a:prstGeom prst="rect">
            <a:avLst/>
          </a:prstGeom>
          <a:noFill/>
          <a:ln/>
        </p:spPr>
        <p:txBody>
          <a:bodyPr wrap="square" lIns="0" tIns="0" rIns="0" bIns="0" rtlCol="0" anchor="ctr"/>
          <a:lstStyle/>
          <a:p>
            <a:pPr algn="ctr" indent="0" marL="0">
              <a:buNone/>
            </a:pPr>
            <a:r>
              <a:rPr lang="en-US" sz="1250" b="1" dirty="0">
                <a:solidFill>
                  <a:srgbClr val="F4F6FA"/>
                </a:solidFill>
                <a:latin typeface="Arial" pitchFamily="34" charset="0"/>
                <a:ea typeface="Arial" pitchFamily="34" charset="-122"/>
                <a:cs typeface="Arial" pitchFamily="34" charset="-120"/>
              </a:rPr>
              <a:t>Viewer</a:t>
            </a:r>
            <a:endParaRPr lang="en-US" sz="1250" dirty="0"/>
          </a:p>
        </p:txBody>
      </p:sp>
      <p:sp>
        <p:nvSpPr>
          <p:cNvPr id="19" name="Shape 17"/>
          <p:cNvSpPr/>
          <p:nvPr/>
        </p:nvSpPr>
        <p:spPr>
          <a:xfrm>
            <a:off x="9372600" y="2377440"/>
            <a:ext cx="2148840" cy="566928"/>
          </a:xfrm>
          <a:prstGeom prst="roundRect">
            <a:avLst>
              <a:gd name="adj" fmla="val 16129"/>
            </a:avLst>
          </a:prstGeom>
          <a:solidFill>
            <a:srgbClr val="1E232D"/>
          </a:solidFill>
          <a:ln w="12700">
            <a:solidFill>
              <a:srgbClr val="2E3543"/>
            </a:solidFill>
            <a:prstDash val="solid"/>
          </a:ln>
        </p:spPr>
      </p:sp>
      <p:sp>
        <p:nvSpPr>
          <p:cNvPr id="20" name="Text 18"/>
          <p:cNvSpPr txBox="1"/>
          <p:nvPr/>
        </p:nvSpPr>
        <p:spPr>
          <a:xfrm>
            <a:off x="9372600" y="2377440"/>
            <a:ext cx="2148840" cy="566928"/>
          </a:xfrm>
          <a:prstGeom prst="rect">
            <a:avLst/>
          </a:prstGeom>
          <a:noFill/>
          <a:ln/>
        </p:spPr>
        <p:txBody>
          <a:bodyPr wrap="square" lIns="0" tIns="0" rIns="0" bIns="0" rtlCol="0" anchor="ctr"/>
          <a:lstStyle/>
          <a:p>
            <a:pPr algn="ctr" indent="0" marL="0">
              <a:buNone/>
            </a:pPr>
            <a:r>
              <a:rPr lang="en-US" sz="1100" dirty="0">
                <a:solidFill>
                  <a:srgbClr val="F0B429"/>
                </a:solidFill>
                <a:latin typeface="Arial" pitchFamily="34" charset="0"/>
                <a:ea typeface="Arial" pitchFamily="34" charset="-122"/>
                <a:cs typeface="Arial" pitchFamily="34" charset="-120"/>
              </a:rPr>
              <a:t>Viewer preference</a:t>
            </a:r>
            <a:endParaRPr lang="en-US" sz="1100" dirty="0"/>
          </a:p>
        </p:txBody>
      </p:sp>
      <p:sp>
        <p:nvSpPr>
          <p:cNvPr id="21" name="Shape 19"/>
          <p:cNvSpPr/>
          <p:nvPr/>
        </p:nvSpPr>
        <p:spPr>
          <a:xfrm>
            <a:off x="8462772" y="2660904"/>
            <a:ext cx="909828" cy="0"/>
          </a:xfrm>
          <a:prstGeom prst="line">
            <a:avLst/>
          </a:prstGeom>
          <a:noFill/>
          <a:ln w="15875">
            <a:solidFill>
              <a:srgbClr val="F0B429"/>
            </a:solidFill>
            <a:prstDash val="dash"/>
          </a:ln>
        </p:spPr>
      </p:sp>
      <p:sp>
        <p:nvSpPr>
          <p:cNvPr id="22" name="Shape 20"/>
          <p:cNvSpPr/>
          <p:nvPr/>
        </p:nvSpPr>
        <p:spPr>
          <a:xfrm>
            <a:off x="8462772" y="2157984"/>
            <a:ext cx="0" cy="502920"/>
          </a:xfrm>
          <a:prstGeom prst="line">
            <a:avLst/>
          </a:prstGeom>
          <a:noFill/>
          <a:ln w="15875">
            <a:solidFill>
              <a:srgbClr val="F0B429"/>
            </a:solidFill>
            <a:prstDash val="dash"/>
          </a:ln>
        </p:spPr>
      </p:sp>
      <p:sp>
        <p:nvSpPr>
          <p:cNvPr id="23" name="Shape 21"/>
          <p:cNvSpPr/>
          <p:nvPr/>
        </p:nvSpPr>
        <p:spPr>
          <a:xfrm>
            <a:off x="8380476" y="2029968"/>
            <a:ext cx="164592" cy="146304"/>
          </a:xfrm>
          <a:prstGeom prst="triangle">
            <a:avLst/>
          </a:prstGeom>
          <a:solidFill>
            <a:srgbClr val="F0B429"/>
          </a:solidFill>
          <a:ln w="12700">
            <a:solidFill>
              <a:srgbClr val="333333"/>
            </a:solidFill>
            <a:prstDash val="solid"/>
          </a:ln>
        </p:spPr>
      </p:sp>
      <p:sp>
        <p:nvSpPr>
          <p:cNvPr id="24" name="Shape 22"/>
          <p:cNvSpPr/>
          <p:nvPr/>
        </p:nvSpPr>
        <p:spPr>
          <a:xfrm>
            <a:off x="594360" y="3154680"/>
            <a:ext cx="5303520" cy="2057400"/>
          </a:xfrm>
          <a:prstGeom prst="roundRect">
            <a:avLst>
              <a:gd name="adj" fmla="val 6222"/>
            </a:avLst>
          </a:prstGeom>
          <a:solidFill>
            <a:srgbClr val="161A22"/>
          </a:solidFill>
          <a:ln w="12700">
            <a:solidFill>
              <a:srgbClr val="2E3543"/>
            </a:solidFill>
            <a:prstDash val="solid"/>
          </a:ln>
        </p:spPr>
      </p:sp>
      <p:sp>
        <p:nvSpPr>
          <p:cNvPr id="25" name="Text 23"/>
          <p:cNvSpPr txBox="1"/>
          <p:nvPr/>
        </p:nvSpPr>
        <p:spPr>
          <a:xfrm>
            <a:off x="886968" y="3310128"/>
            <a:ext cx="3108960" cy="292608"/>
          </a:xfrm>
          <a:prstGeom prst="rect">
            <a:avLst/>
          </a:prstGeom>
          <a:noFill/>
          <a:ln/>
        </p:spPr>
        <p:txBody>
          <a:bodyPr wrap="square" lIns="0" tIns="0" rIns="0" bIns="0" rtlCol="0" anchor="ctr"/>
          <a:lstStyle/>
          <a:p>
            <a:pPr indent="0" marL="0">
              <a:buNone/>
            </a:pPr>
            <a:r>
              <a:rPr lang="en-US" sz="1400" b="1" dirty="0">
                <a:solidFill>
                  <a:srgbClr val="F4F6FA"/>
                </a:solidFill>
                <a:latin typeface="Arial" pitchFamily="34" charset="0"/>
                <a:ea typeface="Arial" pitchFamily="34" charset="-122"/>
                <a:cs typeface="Arial" pitchFamily="34" charset="-120"/>
              </a:rPr>
              <a:t>Action scene</a:t>
            </a:r>
            <a:endParaRPr lang="en-US" sz="1400" dirty="0"/>
          </a:p>
        </p:txBody>
      </p:sp>
      <p:sp>
        <p:nvSpPr>
          <p:cNvPr id="26" name="Text 24"/>
          <p:cNvSpPr txBox="1"/>
          <p:nvPr/>
        </p:nvSpPr>
        <p:spPr>
          <a:xfrm>
            <a:off x="886968" y="3584448"/>
            <a:ext cx="4663440" cy="256032"/>
          </a:xfrm>
          <a:prstGeom prst="rect">
            <a:avLst/>
          </a:prstGeom>
          <a:noFill/>
          <a:ln/>
        </p:spPr>
        <p:txBody>
          <a:bodyPr wrap="square" lIns="0" tIns="0" rIns="0" bIns="0" rtlCol="0" anchor="ctr"/>
          <a:lstStyle/>
          <a:p>
            <a:pPr indent="0" marL="0">
              <a:buNone/>
            </a:pPr>
            <a:r>
              <a:rPr lang="en-US" sz="1000" dirty="0">
                <a:solidFill>
                  <a:srgbClr val="6C7585"/>
                </a:solidFill>
                <a:latin typeface="Arial" pitchFamily="34" charset="0"/>
                <a:ea typeface="Arial" pitchFamily="34" charset="-122"/>
                <a:cs typeface="Arial" pitchFamily="34" charset="-120"/>
              </a:rPr>
              <a:t>Fast movement, crowded frame</a:t>
            </a:r>
            <a:endParaRPr lang="en-US" sz="1000" dirty="0"/>
          </a:p>
        </p:txBody>
      </p:sp>
      <p:sp>
        <p:nvSpPr>
          <p:cNvPr id="27" name="Text 25"/>
          <p:cNvSpPr txBox="1"/>
          <p:nvPr/>
        </p:nvSpPr>
        <p:spPr>
          <a:xfrm>
            <a:off x="886968" y="3931920"/>
            <a:ext cx="1097280" cy="219456"/>
          </a:xfrm>
          <a:prstGeom prst="rect">
            <a:avLst/>
          </a:prstGeom>
          <a:noFill/>
          <a:ln/>
        </p:spPr>
        <p:txBody>
          <a:bodyPr wrap="square" lIns="0" tIns="0" rIns="0" bIns="0" rtlCol="0" anchor="ctr"/>
          <a:lstStyle/>
          <a:p>
            <a:pPr indent="0" marL="0">
              <a:buNone/>
            </a:pPr>
            <a:r>
              <a:rPr lang="en-US" sz="850" b="1" spc="120" kern="0" dirty="0">
                <a:solidFill>
                  <a:srgbClr val="6C7585"/>
                </a:solidFill>
                <a:latin typeface="Arial" pitchFamily="34" charset="0"/>
                <a:ea typeface="Arial" pitchFamily="34" charset="-122"/>
                <a:cs typeface="Arial" pitchFamily="34" charset="-120"/>
              </a:rPr>
              <a:t>ORIGINAL</a:t>
            </a:r>
            <a:endParaRPr lang="en-US" sz="850" dirty="0"/>
          </a:p>
        </p:txBody>
      </p:sp>
      <p:sp>
        <p:nvSpPr>
          <p:cNvPr id="28" name="Shape 26"/>
          <p:cNvSpPr/>
          <p:nvPr/>
        </p:nvSpPr>
        <p:spPr>
          <a:xfrm>
            <a:off x="2011680" y="3877056"/>
            <a:ext cx="3566160" cy="329184"/>
          </a:xfrm>
          <a:prstGeom prst="roundRect">
            <a:avLst>
              <a:gd name="adj" fmla="val 22222"/>
            </a:avLst>
          </a:prstGeom>
          <a:solidFill>
            <a:srgbClr val="11151D"/>
          </a:solidFill>
          <a:ln w="12700">
            <a:solidFill>
              <a:srgbClr val="2E3543"/>
            </a:solidFill>
            <a:prstDash val="solid"/>
          </a:ln>
        </p:spPr>
      </p:sp>
      <p:sp>
        <p:nvSpPr>
          <p:cNvPr id="29" name="Text 27"/>
          <p:cNvSpPr txBox="1"/>
          <p:nvPr/>
        </p:nvSpPr>
        <p:spPr>
          <a:xfrm>
            <a:off x="2084832" y="3877056"/>
            <a:ext cx="3419856" cy="329184"/>
          </a:xfrm>
          <a:prstGeom prst="rect">
            <a:avLst/>
          </a:prstGeom>
          <a:noFill/>
          <a:ln/>
        </p:spPr>
        <p:txBody>
          <a:bodyPr wrap="square" lIns="0" tIns="0" rIns="0" bIns="0" rtlCol="0" anchor="ctr"/>
          <a:lstStyle/>
          <a:p>
            <a:pPr algn="ctr" indent="0" marL="0">
              <a:buNone/>
            </a:pPr>
            <a:r>
              <a:rPr lang="en-US" sz="1100" dirty="0">
                <a:solidFill>
                  <a:srgbClr val="9AA3B4"/>
                </a:solidFill>
                <a:latin typeface="Arial" pitchFamily="34" charset="0"/>
                <a:ea typeface="Arial" pitchFamily="34" charset="-122"/>
                <a:cs typeface="Arial" pitchFamily="34" charset="-120"/>
              </a:rPr>
              <a:t>[dramatic music playing loudly]</a:t>
            </a:r>
            <a:endParaRPr lang="en-US" sz="1100" dirty="0"/>
          </a:p>
        </p:txBody>
      </p:sp>
      <p:sp>
        <p:nvSpPr>
          <p:cNvPr id="30" name="Text 28"/>
          <p:cNvSpPr txBox="1"/>
          <p:nvPr/>
        </p:nvSpPr>
        <p:spPr>
          <a:xfrm>
            <a:off x="886968" y="4462272"/>
            <a:ext cx="1097280" cy="219456"/>
          </a:xfrm>
          <a:prstGeom prst="rect">
            <a:avLst/>
          </a:prstGeom>
          <a:noFill/>
          <a:ln/>
        </p:spPr>
        <p:txBody>
          <a:bodyPr wrap="square" lIns="0" tIns="0" rIns="0" bIns="0" rtlCol="0" anchor="ctr"/>
          <a:lstStyle/>
          <a:p>
            <a:pPr indent="0" marL="0">
              <a:buNone/>
            </a:pPr>
            <a:r>
              <a:rPr lang="en-US" sz="850" b="1" spc="120" kern="0" dirty="0">
                <a:solidFill>
                  <a:srgbClr val="F0B429"/>
                </a:solidFill>
                <a:latin typeface="Arial" pitchFamily="34" charset="0"/>
                <a:ea typeface="Arial" pitchFamily="34" charset="-122"/>
                <a:cs typeface="Arial" pitchFamily="34" charset="-120"/>
              </a:rPr>
              <a:t>ADAPTED</a:t>
            </a:r>
            <a:endParaRPr lang="en-US" sz="850" dirty="0"/>
          </a:p>
        </p:txBody>
      </p:sp>
      <p:sp>
        <p:nvSpPr>
          <p:cNvPr id="31" name="Shape 29"/>
          <p:cNvSpPr/>
          <p:nvPr/>
        </p:nvSpPr>
        <p:spPr>
          <a:xfrm>
            <a:off x="2011680" y="4407408"/>
            <a:ext cx="3566160" cy="329184"/>
          </a:xfrm>
          <a:prstGeom prst="roundRect">
            <a:avLst>
              <a:gd name="adj" fmla="val 22222"/>
            </a:avLst>
          </a:prstGeom>
          <a:solidFill>
            <a:srgbClr val="3B2F12"/>
          </a:solidFill>
          <a:ln w="12700">
            <a:solidFill>
              <a:srgbClr val="F0B429"/>
            </a:solidFill>
            <a:prstDash val="solid"/>
          </a:ln>
        </p:spPr>
      </p:sp>
      <p:sp>
        <p:nvSpPr>
          <p:cNvPr id="32" name="Text 30"/>
          <p:cNvSpPr txBox="1"/>
          <p:nvPr/>
        </p:nvSpPr>
        <p:spPr>
          <a:xfrm>
            <a:off x="2084832" y="4407408"/>
            <a:ext cx="3419856" cy="329184"/>
          </a:xfrm>
          <a:prstGeom prst="rect">
            <a:avLst/>
          </a:prstGeom>
          <a:noFill/>
          <a:ln/>
        </p:spPr>
        <p:txBody>
          <a:bodyPr wrap="square" lIns="0" tIns="0" rIns="0" bIns="0" rtlCol="0" anchor="ctr"/>
          <a:lstStyle/>
          <a:p>
            <a:pPr algn="ctr" indent="0" marL="0">
              <a:buNone/>
            </a:pPr>
            <a:r>
              <a:rPr lang="en-US" sz="1100" dirty="0">
                <a:solidFill>
                  <a:srgbClr val="F0B429"/>
                </a:solidFill>
                <a:latin typeface="Arial" pitchFamily="34" charset="0"/>
                <a:ea typeface="Arial" pitchFamily="34" charset="-122"/>
                <a:cs typeface="Arial" pitchFamily="34" charset="-120"/>
              </a:rPr>
              <a:t>[dramatic music]</a:t>
            </a:r>
            <a:endParaRPr lang="en-US" sz="1100" dirty="0"/>
          </a:p>
        </p:txBody>
      </p:sp>
      <p:sp>
        <p:nvSpPr>
          <p:cNvPr id="33" name="Text 31"/>
          <p:cNvSpPr txBox="1"/>
          <p:nvPr/>
        </p:nvSpPr>
        <p:spPr>
          <a:xfrm>
            <a:off x="886968" y="4828032"/>
            <a:ext cx="4663440" cy="256032"/>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Illustrative example — not a study result.</a:t>
            </a:r>
            <a:endParaRPr lang="en-US" sz="900" dirty="0"/>
          </a:p>
        </p:txBody>
      </p:sp>
      <p:sp>
        <p:nvSpPr>
          <p:cNvPr id="34" name="Shape 32"/>
          <p:cNvSpPr/>
          <p:nvPr/>
        </p:nvSpPr>
        <p:spPr>
          <a:xfrm>
            <a:off x="6217920" y="3154680"/>
            <a:ext cx="5303520" cy="2057400"/>
          </a:xfrm>
          <a:prstGeom prst="roundRect">
            <a:avLst>
              <a:gd name="adj" fmla="val 6222"/>
            </a:avLst>
          </a:prstGeom>
          <a:solidFill>
            <a:srgbClr val="161A22"/>
          </a:solidFill>
          <a:ln w="12700">
            <a:solidFill>
              <a:srgbClr val="2E3543"/>
            </a:solidFill>
            <a:prstDash val="solid"/>
          </a:ln>
        </p:spPr>
      </p:sp>
      <p:sp>
        <p:nvSpPr>
          <p:cNvPr id="35" name="Text 33"/>
          <p:cNvSpPr txBox="1"/>
          <p:nvPr/>
        </p:nvSpPr>
        <p:spPr>
          <a:xfrm>
            <a:off x="6510528" y="3310128"/>
            <a:ext cx="3108960" cy="292608"/>
          </a:xfrm>
          <a:prstGeom prst="rect">
            <a:avLst/>
          </a:prstGeom>
          <a:noFill/>
          <a:ln/>
        </p:spPr>
        <p:txBody>
          <a:bodyPr wrap="square" lIns="0" tIns="0" rIns="0" bIns="0" rtlCol="0" anchor="ctr"/>
          <a:lstStyle/>
          <a:p>
            <a:pPr indent="0" marL="0">
              <a:buNone/>
            </a:pPr>
            <a:r>
              <a:rPr lang="en-US" sz="1400" b="1" dirty="0">
                <a:solidFill>
                  <a:srgbClr val="F4F6FA"/>
                </a:solidFill>
                <a:latin typeface="Arial" pitchFamily="34" charset="0"/>
                <a:ea typeface="Arial" pitchFamily="34" charset="-122"/>
                <a:cs typeface="Arial" pitchFamily="34" charset="-120"/>
              </a:rPr>
              <a:t>Quiet scene</a:t>
            </a:r>
            <a:endParaRPr lang="en-US" sz="1400" dirty="0"/>
          </a:p>
        </p:txBody>
      </p:sp>
      <p:sp>
        <p:nvSpPr>
          <p:cNvPr id="36" name="Text 34"/>
          <p:cNvSpPr txBox="1"/>
          <p:nvPr/>
        </p:nvSpPr>
        <p:spPr>
          <a:xfrm>
            <a:off x="6510528" y="3584448"/>
            <a:ext cx="4663440" cy="256032"/>
          </a:xfrm>
          <a:prstGeom prst="rect">
            <a:avLst/>
          </a:prstGeom>
          <a:noFill/>
          <a:ln/>
        </p:spPr>
        <p:txBody>
          <a:bodyPr wrap="square" lIns="0" tIns="0" rIns="0" bIns="0" rtlCol="0" anchor="ctr"/>
          <a:lstStyle/>
          <a:p>
            <a:pPr indent="0" marL="0">
              <a:buNone/>
            </a:pPr>
            <a:r>
              <a:rPr lang="en-US" sz="1000" dirty="0">
                <a:solidFill>
                  <a:srgbClr val="6C7585"/>
                </a:solidFill>
                <a:latin typeface="Arial" pitchFamily="34" charset="0"/>
                <a:ea typeface="Arial" pitchFamily="34" charset="-122"/>
                <a:cs typeface="Arial" pitchFamily="34" charset="-120"/>
              </a:rPr>
              <a:t>A character alone, night</a:t>
            </a:r>
            <a:endParaRPr lang="en-US" sz="1000" dirty="0"/>
          </a:p>
        </p:txBody>
      </p:sp>
      <p:sp>
        <p:nvSpPr>
          <p:cNvPr id="37" name="Text 35"/>
          <p:cNvSpPr txBox="1"/>
          <p:nvPr/>
        </p:nvSpPr>
        <p:spPr>
          <a:xfrm>
            <a:off x="6510528" y="3931920"/>
            <a:ext cx="1097280" cy="219456"/>
          </a:xfrm>
          <a:prstGeom prst="rect">
            <a:avLst/>
          </a:prstGeom>
          <a:noFill/>
          <a:ln/>
        </p:spPr>
        <p:txBody>
          <a:bodyPr wrap="square" lIns="0" tIns="0" rIns="0" bIns="0" rtlCol="0" anchor="ctr"/>
          <a:lstStyle/>
          <a:p>
            <a:pPr indent="0" marL="0">
              <a:buNone/>
            </a:pPr>
            <a:r>
              <a:rPr lang="en-US" sz="850" b="1" spc="120" kern="0" dirty="0">
                <a:solidFill>
                  <a:srgbClr val="6C7585"/>
                </a:solidFill>
                <a:latin typeface="Arial" pitchFamily="34" charset="0"/>
                <a:ea typeface="Arial" pitchFamily="34" charset="-122"/>
                <a:cs typeface="Arial" pitchFamily="34" charset="-120"/>
              </a:rPr>
              <a:t>ORIGINAL</a:t>
            </a:r>
            <a:endParaRPr lang="en-US" sz="850" dirty="0"/>
          </a:p>
        </p:txBody>
      </p:sp>
      <p:sp>
        <p:nvSpPr>
          <p:cNvPr id="38" name="Shape 36"/>
          <p:cNvSpPr/>
          <p:nvPr/>
        </p:nvSpPr>
        <p:spPr>
          <a:xfrm>
            <a:off x="7635240" y="3877056"/>
            <a:ext cx="3566160" cy="329184"/>
          </a:xfrm>
          <a:prstGeom prst="roundRect">
            <a:avLst>
              <a:gd name="adj" fmla="val 22222"/>
            </a:avLst>
          </a:prstGeom>
          <a:solidFill>
            <a:srgbClr val="11151D"/>
          </a:solidFill>
          <a:ln w="12700">
            <a:solidFill>
              <a:srgbClr val="2E3543"/>
            </a:solidFill>
            <a:prstDash val="solid"/>
          </a:ln>
        </p:spPr>
      </p:sp>
      <p:sp>
        <p:nvSpPr>
          <p:cNvPr id="39" name="Text 37"/>
          <p:cNvSpPr txBox="1"/>
          <p:nvPr/>
        </p:nvSpPr>
        <p:spPr>
          <a:xfrm>
            <a:off x="7708392" y="3877056"/>
            <a:ext cx="3419856" cy="329184"/>
          </a:xfrm>
          <a:prstGeom prst="rect">
            <a:avLst/>
          </a:prstGeom>
          <a:noFill/>
          <a:ln/>
        </p:spPr>
        <p:txBody>
          <a:bodyPr wrap="square" lIns="0" tIns="0" rIns="0" bIns="0" rtlCol="0" anchor="ctr"/>
          <a:lstStyle/>
          <a:p>
            <a:pPr algn="ctr" indent="0" marL="0">
              <a:buNone/>
            </a:pPr>
            <a:r>
              <a:rPr lang="en-US" sz="1100" dirty="0">
                <a:solidFill>
                  <a:srgbClr val="9AA3B4"/>
                </a:solidFill>
                <a:latin typeface="Arial" pitchFamily="34" charset="0"/>
                <a:ea typeface="Arial" pitchFamily="34" charset="-122"/>
                <a:cs typeface="Arial" pitchFamily="34" charset="-120"/>
              </a:rPr>
              <a:t>[music]</a:t>
            </a:r>
            <a:endParaRPr lang="en-US" sz="1100" dirty="0"/>
          </a:p>
        </p:txBody>
      </p:sp>
      <p:sp>
        <p:nvSpPr>
          <p:cNvPr id="40" name="Text 38"/>
          <p:cNvSpPr txBox="1"/>
          <p:nvPr/>
        </p:nvSpPr>
        <p:spPr>
          <a:xfrm>
            <a:off x="6510528" y="4462272"/>
            <a:ext cx="1097280" cy="219456"/>
          </a:xfrm>
          <a:prstGeom prst="rect">
            <a:avLst/>
          </a:prstGeom>
          <a:noFill/>
          <a:ln/>
        </p:spPr>
        <p:txBody>
          <a:bodyPr wrap="square" lIns="0" tIns="0" rIns="0" bIns="0" rtlCol="0" anchor="ctr"/>
          <a:lstStyle/>
          <a:p>
            <a:pPr indent="0" marL="0">
              <a:buNone/>
            </a:pPr>
            <a:r>
              <a:rPr lang="en-US" sz="850" b="1" spc="120" kern="0" dirty="0">
                <a:solidFill>
                  <a:srgbClr val="F0B429"/>
                </a:solidFill>
                <a:latin typeface="Arial" pitchFamily="34" charset="0"/>
                <a:ea typeface="Arial" pitchFamily="34" charset="-122"/>
                <a:cs typeface="Arial" pitchFamily="34" charset="-120"/>
              </a:rPr>
              <a:t>ADAPTED</a:t>
            </a:r>
            <a:endParaRPr lang="en-US" sz="850" dirty="0"/>
          </a:p>
        </p:txBody>
      </p:sp>
      <p:sp>
        <p:nvSpPr>
          <p:cNvPr id="41" name="Shape 39"/>
          <p:cNvSpPr/>
          <p:nvPr/>
        </p:nvSpPr>
        <p:spPr>
          <a:xfrm>
            <a:off x="7635240" y="4407408"/>
            <a:ext cx="3566160" cy="329184"/>
          </a:xfrm>
          <a:prstGeom prst="roundRect">
            <a:avLst>
              <a:gd name="adj" fmla="val 22222"/>
            </a:avLst>
          </a:prstGeom>
          <a:solidFill>
            <a:srgbClr val="3B2F12"/>
          </a:solidFill>
          <a:ln w="12700">
            <a:solidFill>
              <a:srgbClr val="F0B429"/>
            </a:solidFill>
            <a:prstDash val="solid"/>
          </a:ln>
        </p:spPr>
      </p:sp>
      <p:sp>
        <p:nvSpPr>
          <p:cNvPr id="42" name="Text 40"/>
          <p:cNvSpPr txBox="1"/>
          <p:nvPr/>
        </p:nvSpPr>
        <p:spPr>
          <a:xfrm>
            <a:off x="7708392" y="4407408"/>
            <a:ext cx="3419856" cy="329184"/>
          </a:xfrm>
          <a:prstGeom prst="rect">
            <a:avLst/>
          </a:prstGeom>
          <a:noFill/>
          <a:ln/>
        </p:spPr>
        <p:txBody>
          <a:bodyPr wrap="square" lIns="0" tIns="0" rIns="0" bIns="0" rtlCol="0" anchor="ctr"/>
          <a:lstStyle/>
          <a:p>
            <a:pPr algn="ctr" indent="0" marL="0">
              <a:buNone/>
            </a:pPr>
            <a:r>
              <a:rPr lang="en-US" sz="1100" dirty="0">
                <a:solidFill>
                  <a:srgbClr val="F0B429"/>
                </a:solidFill>
                <a:latin typeface="Arial" pitchFamily="34" charset="0"/>
                <a:ea typeface="Arial" pitchFamily="34" charset="-122"/>
                <a:cs typeface="Arial" pitchFamily="34" charset="-120"/>
              </a:rPr>
              <a:t>[soft, melancholic piano music]</a:t>
            </a:r>
            <a:endParaRPr lang="en-US" sz="1100" dirty="0"/>
          </a:p>
        </p:txBody>
      </p:sp>
      <p:sp>
        <p:nvSpPr>
          <p:cNvPr id="43" name="Text 41"/>
          <p:cNvSpPr txBox="1"/>
          <p:nvPr/>
        </p:nvSpPr>
        <p:spPr>
          <a:xfrm>
            <a:off x="6510528" y="4828032"/>
            <a:ext cx="4663440" cy="256032"/>
          </a:xfrm>
          <a:prstGeom prst="rect">
            <a:avLst/>
          </a:prstGeom>
          <a:noFill/>
          <a:ln/>
        </p:spPr>
        <p:txBody>
          <a:bodyPr wrap="square" lIns="0" tIns="0" rIns="0" bIns="0" rtlCol="0" anchor="ctr"/>
          <a:lstStyle/>
          <a:p>
            <a:pPr indent="0" marL="0">
              <a:buNone/>
            </a:pPr>
            <a:r>
              <a:rPr lang="en-US" sz="900" dirty="0">
                <a:solidFill>
                  <a:srgbClr val="6C7585"/>
                </a:solidFill>
                <a:latin typeface="Arial" pitchFamily="34" charset="0"/>
                <a:ea typeface="Arial" pitchFamily="34" charset="-122"/>
                <a:cs typeface="Arial" pitchFamily="34" charset="-120"/>
              </a:rPr>
              <a:t>Illustrative example — not a study result.</a:t>
            </a:r>
            <a:endParaRPr lang="en-US" sz="900" dirty="0"/>
          </a:p>
        </p:txBody>
      </p:sp>
      <p:sp>
        <p:nvSpPr>
          <p:cNvPr id="44" name="Shape 42"/>
          <p:cNvSpPr/>
          <p:nvPr/>
        </p:nvSpPr>
        <p:spPr>
          <a:xfrm>
            <a:off x="594360" y="5413248"/>
            <a:ext cx="10927080" cy="658368"/>
          </a:xfrm>
          <a:prstGeom prst="roundRect">
            <a:avLst>
              <a:gd name="adj" fmla="val 16667"/>
            </a:avLst>
          </a:prstGeom>
          <a:solidFill>
            <a:srgbClr val="1E232D"/>
          </a:solidFill>
          <a:ln w="12700">
            <a:solidFill>
              <a:srgbClr val="2E3543"/>
            </a:solidFill>
            <a:prstDash val="solid"/>
          </a:ln>
        </p:spPr>
      </p:sp>
      <p:sp>
        <p:nvSpPr>
          <p:cNvPr id="45" name="Text 43"/>
          <p:cNvSpPr txBox="1"/>
          <p:nvPr/>
        </p:nvSpPr>
        <p:spPr>
          <a:xfrm>
            <a:off x="868680" y="5413248"/>
            <a:ext cx="10424160" cy="658368"/>
          </a:xfrm>
          <a:prstGeom prst="rect">
            <a:avLst/>
          </a:prstGeom>
          <a:noFill/>
          <a:ln/>
        </p:spPr>
        <p:txBody>
          <a:bodyPr wrap="square" lIns="0" tIns="0" rIns="0" bIns="0" rtlCol="0" anchor="ctr"/>
          <a:lstStyle/>
          <a:p>
            <a:pPr indent="0" marL="0">
              <a:buNone/>
            </a:pPr>
            <a:r>
              <a:rPr lang="en-US" sz="1100" dirty="0">
                <a:solidFill>
                  <a:srgbClr val="9AA3B4"/>
                </a:solidFill>
                <a:latin typeface="Arial" pitchFamily="34" charset="0"/>
                <a:ea typeface="Arial" pitchFamily="34" charset="-122"/>
                <a:cs typeface="Arial" pitchFamily="34" charset="-120"/>
              </a:rPr>
              <a:t>Scope: where suitable open-source research components exist — CapTune's authors publish their code — we reuse rather than rebuild, and spend the semester on the player, the interaction design and the user study.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p:bgPr>
    </p:bg>
    <p:spTree>
      <p:nvGrpSpPr>
        <p:cNvPr id="1" name=""/>
        <p:cNvGrpSpPr/>
        <p:nvPr/>
      </p:nvGrpSpPr>
      <p:grpSpPr>
        <a:xfrm>
          <a:off x="0" y="0"/>
          <a:ext cx="0" cy="0"/>
          <a:chOff x="0" y="0"/>
          <a:chExt cx="0" cy="0"/>
        </a:xfrm>
      </p:grpSpPr>
      <p:sp>
        <p:nvSpPr>
          <p:cNvPr id="2" name="Text 0"/>
          <p:cNvSpPr txBox="1"/>
          <p:nvPr/>
        </p:nvSpPr>
        <p:spPr>
          <a:xfrm>
            <a:off x="594360" y="384048"/>
            <a:ext cx="10881360" cy="685800"/>
          </a:xfrm>
          <a:prstGeom prst="rect">
            <a:avLst/>
          </a:prstGeom>
          <a:noFill/>
          <a:ln/>
        </p:spPr>
        <p:txBody>
          <a:bodyPr wrap="square" lIns="0" tIns="0" rIns="0" bIns="0" rtlCol="0" anchor="ctr"/>
          <a:lstStyle/>
          <a:p>
            <a:pPr algn="l" indent="0" marL="0">
              <a:buNone/>
            </a:pPr>
            <a:r>
              <a:rPr lang="en-US" sz="3400" b="1" dirty="0">
                <a:solidFill>
                  <a:srgbClr val="F4F6FA"/>
                </a:solidFill>
                <a:latin typeface="Arial" pitchFamily="34" charset="0"/>
                <a:ea typeface="Arial" pitchFamily="34" charset="-122"/>
                <a:cs typeface="Arial" pitchFamily="34" charset="-120"/>
              </a:rPr>
              <a:t>What we will study</a:t>
            </a:r>
            <a:endParaRPr lang="en-US" sz="3400" dirty="0"/>
          </a:p>
        </p:txBody>
      </p:sp>
      <p:sp>
        <p:nvSpPr>
          <p:cNvPr id="3" name="Shape 1"/>
          <p:cNvSpPr/>
          <p:nvPr/>
        </p:nvSpPr>
        <p:spPr>
          <a:xfrm>
            <a:off x="594360" y="1234440"/>
            <a:ext cx="5440680" cy="3977640"/>
          </a:xfrm>
          <a:prstGeom prst="roundRect">
            <a:avLst>
              <a:gd name="adj" fmla="val 3678"/>
            </a:avLst>
          </a:prstGeom>
          <a:solidFill>
            <a:srgbClr val="161A22"/>
          </a:solidFill>
          <a:ln w="12700">
            <a:solidFill>
              <a:srgbClr val="2E3543"/>
            </a:solidFill>
            <a:prstDash val="solid"/>
          </a:ln>
        </p:spPr>
      </p:sp>
      <p:sp>
        <p:nvSpPr>
          <p:cNvPr id="4" name="Shape 2"/>
          <p:cNvSpPr/>
          <p:nvPr/>
        </p:nvSpPr>
        <p:spPr>
          <a:xfrm>
            <a:off x="868680" y="1481328"/>
            <a:ext cx="457200" cy="457200"/>
          </a:xfrm>
          <a:prstGeom prst="ellipse">
            <a:avLst/>
          </a:prstGeom>
          <a:solidFill>
            <a:srgbClr val="3B2F12"/>
          </a:solidFill>
          <a:ln w="12700">
            <a:solidFill>
              <a:srgbClr val="F0B429"/>
            </a:solidFill>
            <a:prstDash val="solid"/>
          </a:ln>
        </p:spPr>
      </p:sp>
      <p:sp>
        <p:nvSpPr>
          <p:cNvPr id="5" name="Shape 3"/>
          <p:cNvSpPr/>
          <p:nvPr/>
        </p:nvSpPr>
        <p:spPr>
          <a:xfrm>
            <a:off x="976579" y="1665671"/>
            <a:ext cx="36210" cy="88514"/>
          </a:xfrm>
          <a:prstGeom prst="roundRect">
            <a:avLst>
              <a:gd name="adj" fmla="val 101011"/>
            </a:avLst>
          </a:prstGeom>
          <a:solidFill>
            <a:srgbClr val="F0B429"/>
          </a:solidFill>
          <a:ln w="12700">
            <a:solidFill>
              <a:srgbClr val="333333"/>
            </a:solidFill>
            <a:prstDash val="solid"/>
          </a:ln>
        </p:spPr>
      </p:sp>
      <p:sp>
        <p:nvSpPr>
          <p:cNvPr id="6" name="Shape 4"/>
          <p:cNvSpPr/>
          <p:nvPr/>
        </p:nvSpPr>
        <p:spPr>
          <a:xfrm>
            <a:off x="1036930" y="1621414"/>
            <a:ext cx="36210" cy="177028"/>
          </a:xfrm>
          <a:prstGeom prst="roundRect">
            <a:avLst>
              <a:gd name="adj" fmla="val 101011"/>
            </a:avLst>
          </a:prstGeom>
          <a:solidFill>
            <a:srgbClr val="F0B429"/>
          </a:solidFill>
          <a:ln w="12700">
            <a:solidFill>
              <a:srgbClr val="333333"/>
            </a:solidFill>
            <a:prstDash val="solid"/>
          </a:ln>
        </p:spPr>
      </p:sp>
      <p:sp>
        <p:nvSpPr>
          <p:cNvPr id="7" name="Shape 5"/>
          <p:cNvSpPr/>
          <p:nvPr/>
        </p:nvSpPr>
        <p:spPr>
          <a:xfrm>
            <a:off x="1097280" y="1577157"/>
            <a:ext cx="36210" cy="265542"/>
          </a:xfrm>
          <a:prstGeom prst="roundRect">
            <a:avLst>
              <a:gd name="adj" fmla="val 101011"/>
            </a:avLst>
          </a:prstGeom>
          <a:solidFill>
            <a:srgbClr val="F0B429"/>
          </a:solidFill>
          <a:ln w="12700">
            <a:solidFill>
              <a:srgbClr val="333333"/>
            </a:solidFill>
            <a:prstDash val="solid"/>
          </a:ln>
        </p:spPr>
      </p:sp>
      <p:sp>
        <p:nvSpPr>
          <p:cNvPr id="8" name="Shape 6"/>
          <p:cNvSpPr/>
          <p:nvPr/>
        </p:nvSpPr>
        <p:spPr>
          <a:xfrm>
            <a:off x="1157630" y="1629461"/>
            <a:ext cx="36210" cy="160934"/>
          </a:xfrm>
          <a:prstGeom prst="roundRect">
            <a:avLst>
              <a:gd name="adj" fmla="val 101011"/>
            </a:avLst>
          </a:prstGeom>
          <a:solidFill>
            <a:srgbClr val="F0B429"/>
          </a:solidFill>
          <a:ln w="12700">
            <a:solidFill>
              <a:srgbClr val="333333"/>
            </a:solidFill>
            <a:prstDash val="solid"/>
          </a:ln>
        </p:spPr>
      </p:sp>
      <p:sp>
        <p:nvSpPr>
          <p:cNvPr id="9" name="Shape 7"/>
          <p:cNvSpPr/>
          <p:nvPr/>
        </p:nvSpPr>
        <p:spPr>
          <a:xfrm>
            <a:off x="1217981" y="1669694"/>
            <a:ext cx="36210" cy="80467"/>
          </a:xfrm>
          <a:prstGeom prst="roundRect">
            <a:avLst>
              <a:gd name="adj" fmla="val 101011"/>
            </a:avLst>
          </a:prstGeom>
          <a:solidFill>
            <a:srgbClr val="F0B429"/>
          </a:solidFill>
          <a:ln w="12700">
            <a:solidFill>
              <a:srgbClr val="333333"/>
            </a:solidFill>
            <a:prstDash val="solid"/>
          </a:ln>
        </p:spPr>
      </p:sp>
      <p:sp>
        <p:nvSpPr>
          <p:cNvPr id="10" name="Text 8"/>
          <p:cNvSpPr txBox="1"/>
          <p:nvPr/>
        </p:nvSpPr>
        <p:spPr>
          <a:xfrm>
            <a:off x="1444752" y="1481328"/>
            <a:ext cx="2926080" cy="457200"/>
          </a:xfrm>
          <a:prstGeom prst="rect">
            <a:avLst/>
          </a:prstGeom>
          <a:noFill/>
          <a:ln/>
        </p:spPr>
        <p:txBody>
          <a:bodyPr wrap="square" lIns="0" tIns="0" rIns="0" bIns="0" rtlCol="0" anchor="ctr"/>
          <a:lstStyle/>
          <a:p>
            <a:pPr indent="0" marL="0">
              <a:buNone/>
            </a:pPr>
            <a:r>
              <a:rPr lang="en-US" sz="1800" b="1" dirty="0">
                <a:solidFill>
                  <a:srgbClr val="F4F6FA"/>
                </a:solidFill>
                <a:latin typeface="Arial" pitchFamily="34" charset="0"/>
                <a:ea typeface="Arial" pitchFamily="34" charset="-122"/>
                <a:cs typeface="Arial" pitchFamily="34" charset="-120"/>
              </a:rPr>
              <a:t>Evaluation</a:t>
            </a:r>
            <a:endParaRPr lang="en-US" sz="1800" dirty="0"/>
          </a:p>
        </p:txBody>
      </p:sp>
      <p:sp>
        <p:nvSpPr>
          <p:cNvPr id="11" name="Text 9"/>
          <p:cNvSpPr txBox="1"/>
          <p:nvPr/>
        </p:nvSpPr>
        <p:spPr>
          <a:xfrm>
            <a:off x="868680" y="2057400"/>
            <a:ext cx="4937760" cy="365760"/>
          </a:xfrm>
          <a:prstGeom prst="rect">
            <a:avLst/>
          </a:prstGeom>
          <a:noFill/>
          <a:ln/>
        </p:spPr>
        <p:txBody>
          <a:bodyPr wrap="square" lIns="0" tIns="0" rIns="0" bIns="0" rtlCol="0" anchor="ctr"/>
          <a:lstStyle/>
          <a:p>
            <a:pPr indent="0" marL="0">
              <a:buNone/>
            </a:pPr>
            <a:r>
              <a:rPr lang="en-US" sz="1100" dirty="0">
                <a:solidFill>
                  <a:srgbClr val="9AA3B4"/>
                </a:solidFill>
                <a:latin typeface="Arial" pitchFamily="34" charset="0"/>
                <a:ea typeface="Arial" pitchFamily="34" charset="-122"/>
                <a:cs typeface="Arial" pitchFamily="34" charset="-120"/>
              </a:rPr>
              <a:t>DHH participants watch longer story-driven material and we ask about:</a:t>
            </a:r>
            <a:endParaRPr lang="en-US" sz="1100" dirty="0"/>
          </a:p>
        </p:txBody>
      </p:sp>
      <p:sp>
        <p:nvSpPr>
          <p:cNvPr id="12" name="Text 10"/>
          <p:cNvSpPr txBox="1"/>
          <p:nvPr/>
        </p:nvSpPr>
        <p:spPr>
          <a:xfrm>
            <a:off x="896112" y="2468880"/>
            <a:ext cx="4846320" cy="169164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F4F6FA"/>
                </a:solidFill>
                <a:latin typeface="Arial" pitchFamily="34" charset="0"/>
                <a:ea typeface="Arial" pitchFamily="34" charset="-122"/>
                <a:cs typeface="Arial" pitchFamily="34" charset="-120"/>
              </a:rPr>
              <a:t>Caption usefulness and preferred level of detail</a:t>
            </a:r>
            <a:endParaRPr lang="en-US" sz="1150" dirty="0"/>
          </a:p>
          <a:p>
            <a:pPr marL="342900" indent="-342900">
              <a:lnSpc>
                <a:spcPts val="1500"/>
              </a:lnSpc>
              <a:spcAft>
                <a:spcPts val="900"/>
              </a:spcAft>
              <a:buSzPct val="100000"/>
              <a:buChar char="•"/>
            </a:pPr>
            <a:r>
              <a:rPr lang="en-US" sz="1150" dirty="0">
                <a:solidFill>
                  <a:srgbClr val="F4F6FA"/>
                </a:solidFill>
                <a:latin typeface="Arial" pitchFamily="34" charset="0"/>
                <a:ea typeface="Arial" pitchFamily="34" charset="-122"/>
                <a:cs typeface="Arial" pitchFamily="34" charset="-120"/>
              </a:rPr>
              <a:t>Consistency across scenes over a full story</a:t>
            </a:r>
            <a:endParaRPr lang="en-US" sz="1150" dirty="0"/>
          </a:p>
          <a:p>
            <a:pPr marL="342900" indent="-342900">
              <a:lnSpc>
                <a:spcPts val="1500"/>
              </a:lnSpc>
              <a:spcAft>
                <a:spcPts val="900"/>
              </a:spcAft>
              <a:buSzPct val="100000"/>
              <a:buChar char="•"/>
            </a:pPr>
            <a:r>
              <a:rPr lang="en-US" sz="1150" dirty="0">
                <a:solidFill>
                  <a:srgbClr val="F4F6FA"/>
                </a:solidFill>
                <a:latin typeface="Arial" pitchFamily="34" charset="0"/>
                <a:ea typeface="Arial" pitchFamily="34" charset="-122"/>
                <a:cs typeface="Arial" pitchFamily="34" charset="-120"/>
              </a:rPr>
              <a:t>Perceived control over what the captions do</a:t>
            </a:r>
            <a:endParaRPr lang="en-US" sz="1150" dirty="0"/>
          </a:p>
          <a:p>
            <a:pPr marL="342900" indent="-342900">
              <a:lnSpc>
                <a:spcPts val="1500"/>
              </a:lnSpc>
              <a:spcAft>
                <a:spcPts val="900"/>
              </a:spcAft>
              <a:buSzPct val="100000"/>
              <a:buChar char="•"/>
            </a:pPr>
            <a:r>
              <a:rPr lang="en-US" sz="1150" dirty="0">
                <a:solidFill>
                  <a:srgbClr val="F4F6FA"/>
                </a:solidFill>
                <a:latin typeface="Arial" pitchFamily="34" charset="0"/>
                <a:ea typeface="Arial" pitchFamily="34" charset="-122"/>
                <a:cs typeface="Arial" pitchFamily="34" charset="-120"/>
              </a:rPr>
              <a:t>Whether scene-aware adaptation helps or gets in the way</a:t>
            </a:r>
            <a:endParaRPr lang="en-US" sz="1150" dirty="0"/>
          </a:p>
          <a:p>
            <a:pPr marL="342900" indent="-342900">
              <a:lnSpc>
                <a:spcPts val="1500"/>
              </a:lnSpc>
              <a:spcAft>
                <a:spcPts val="900"/>
              </a:spcAft>
              <a:buSzPct val="100000"/>
              <a:buChar char="•"/>
            </a:pPr>
            <a:r>
              <a:rPr lang="en-US" sz="1150" dirty="0">
                <a:solidFill>
                  <a:srgbClr val="F4F6FA"/>
                </a:solidFill>
                <a:latin typeface="Arial" pitchFamily="34" charset="0"/>
                <a:ea typeface="Arial" pitchFamily="34" charset="-122"/>
                <a:cs typeface="Arial" pitchFamily="34" charset="-120"/>
              </a:rPr>
              <a:t>Usability of the preview and show-original controls</a:t>
            </a:r>
            <a:endParaRPr lang="en-US" sz="1150" dirty="0"/>
          </a:p>
        </p:txBody>
      </p:sp>
      <p:sp>
        <p:nvSpPr>
          <p:cNvPr id="13" name="Shape 11"/>
          <p:cNvSpPr/>
          <p:nvPr/>
        </p:nvSpPr>
        <p:spPr>
          <a:xfrm>
            <a:off x="868680" y="4315968"/>
            <a:ext cx="4892040" cy="685800"/>
          </a:xfrm>
          <a:prstGeom prst="roundRect">
            <a:avLst>
              <a:gd name="adj" fmla="val 13333"/>
            </a:avLst>
          </a:prstGeom>
          <a:solidFill>
            <a:srgbClr val="1E232D"/>
          </a:solidFill>
          <a:ln w="12700">
            <a:solidFill>
              <a:srgbClr val="2E3543"/>
            </a:solidFill>
            <a:prstDash val="solid"/>
          </a:ln>
        </p:spPr>
      </p:sp>
      <p:sp>
        <p:nvSpPr>
          <p:cNvPr id="14" name="Text 12"/>
          <p:cNvSpPr txBox="1"/>
          <p:nvPr/>
        </p:nvSpPr>
        <p:spPr>
          <a:xfrm>
            <a:off x="1051560" y="4315968"/>
            <a:ext cx="4526280" cy="685800"/>
          </a:xfrm>
          <a:prstGeom prst="rect">
            <a:avLst/>
          </a:prstGeom>
          <a:noFill/>
          <a:ln/>
        </p:spPr>
        <p:txBody>
          <a:bodyPr wrap="square" lIns="0" tIns="0" rIns="0" bIns="0" rtlCol="0" anchor="ctr"/>
          <a:lstStyle/>
          <a:p>
            <a:pPr indent="0" marL="0">
              <a:lnSpc>
                <a:spcPts val="1300"/>
              </a:lnSpc>
              <a:buNone/>
            </a:pPr>
            <a:r>
              <a:rPr lang="en-US" sz="950" dirty="0">
                <a:solidFill>
                  <a:srgbClr val="9AA3B4"/>
                </a:solidFill>
                <a:latin typeface="Arial" pitchFamily="34" charset="0"/>
                <a:ea typeface="Arial" pitchFamily="34" charset="-122"/>
                <a:cs typeface="Arial" pitchFamily="34" charset="-120"/>
              </a:rPr>
              <a:t>Recruitment where feasible and ethically appropriate. Exact study design and sample size to be finalised — we are not fixing a participant count yet.</a:t>
            </a:r>
            <a:endParaRPr lang="en-US" sz="950" dirty="0"/>
          </a:p>
        </p:txBody>
      </p:sp>
      <p:sp>
        <p:nvSpPr>
          <p:cNvPr id="15" name="Shape 13"/>
          <p:cNvSpPr/>
          <p:nvPr/>
        </p:nvSpPr>
        <p:spPr>
          <a:xfrm>
            <a:off x="6309360" y="1234440"/>
            <a:ext cx="5212080" cy="3977640"/>
          </a:xfrm>
          <a:prstGeom prst="roundRect">
            <a:avLst>
              <a:gd name="adj" fmla="val 3678"/>
            </a:avLst>
          </a:prstGeom>
          <a:solidFill>
            <a:srgbClr val="161A22"/>
          </a:solidFill>
          <a:ln w="12700">
            <a:solidFill>
              <a:srgbClr val="F0B429"/>
            </a:solidFill>
            <a:prstDash val="solid"/>
          </a:ln>
        </p:spPr>
      </p:sp>
      <p:sp>
        <p:nvSpPr>
          <p:cNvPr id="16" name="Text 14"/>
          <p:cNvSpPr txBox="1"/>
          <p:nvPr/>
        </p:nvSpPr>
        <p:spPr>
          <a:xfrm>
            <a:off x="6629400" y="1508760"/>
            <a:ext cx="3657600" cy="237744"/>
          </a:xfrm>
          <a:prstGeom prst="rect">
            <a:avLst/>
          </a:prstGeom>
          <a:noFill/>
          <a:ln/>
        </p:spPr>
        <p:txBody>
          <a:bodyPr wrap="square" lIns="0" tIns="0" rIns="0" bIns="0" rtlCol="0" anchor="ctr"/>
          <a:lstStyle/>
          <a:p>
            <a:pPr indent="0" marL="0">
              <a:buNone/>
            </a:pPr>
            <a:r>
              <a:rPr lang="en-US" sz="1000" b="1" spc="160" kern="0" dirty="0">
                <a:solidFill>
                  <a:srgbClr val="F0B429"/>
                </a:solidFill>
                <a:latin typeface="Arial" pitchFamily="34" charset="0"/>
                <a:ea typeface="Arial" pitchFamily="34" charset="-122"/>
                <a:cs typeface="Arial" pitchFamily="34" charset="-120"/>
              </a:rPr>
              <a:t>CONTRIBUTION</a:t>
            </a:r>
            <a:endParaRPr lang="en-US" sz="1000" dirty="0"/>
          </a:p>
        </p:txBody>
      </p:sp>
      <p:sp>
        <p:nvSpPr>
          <p:cNvPr id="17" name="Text 15"/>
          <p:cNvSpPr txBox="1"/>
          <p:nvPr/>
        </p:nvSpPr>
        <p:spPr>
          <a:xfrm>
            <a:off x="6629400" y="1810512"/>
            <a:ext cx="4663440" cy="502920"/>
          </a:xfrm>
          <a:prstGeom prst="rect">
            <a:avLst/>
          </a:prstGeom>
          <a:noFill/>
          <a:ln/>
        </p:spPr>
        <p:txBody>
          <a:bodyPr wrap="square" lIns="0" tIns="0" rIns="0" bIns="0" rtlCol="0" anchor="ctr"/>
          <a:lstStyle/>
          <a:p>
            <a:pPr indent="0" marL="0">
              <a:buNone/>
            </a:pPr>
            <a:r>
              <a:rPr lang="en-US" sz="2700" b="1" dirty="0">
                <a:solidFill>
                  <a:srgbClr val="F0B429"/>
                </a:solidFill>
                <a:latin typeface="Arial" pitchFamily="34" charset="0"/>
                <a:ea typeface="Arial" pitchFamily="34" charset="-122"/>
                <a:cs typeface="Arial" pitchFamily="34" charset="-120"/>
              </a:rPr>
              <a:t>LONG-FORM</a:t>
            </a:r>
            <a:endParaRPr lang="en-US" sz="2700" dirty="0"/>
          </a:p>
        </p:txBody>
      </p:sp>
      <p:sp>
        <p:nvSpPr>
          <p:cNvPr id="18" name="Text 16"/>
          <p:cNvSpPr txBox="1"/>
          <p:nvPr/>
        </p:nvSpPr>
        <p:spPr>
          <a:xfrm>
            <a:off x="6647688" y="2313432"/>
            <a:ext cx="4663440" cy="292608"/>
          </a:xfrm>
          <a:prstGeom prst="rect">
            <a:avLst/>
          </a:prstGeom>
          <a:noFill/>
          <a:ln/>
        </p:spPr>
        <p:txBody>
          <a:bodyPr wrap="square" lIns="0" tIns="0" rIns="0" bIns="0" rtlCol="0" anchor="ctr"/>
          <a:lstStyle/>
          <a:p>
            <a:pPr indent="0" marL="0">
              <a:buNone/>
            </a:pPr>
            <a:r>
              <a:rPr lang="en-US" sz="1150" dirty="0">
                <a:solidFill>
                  <a:srgbClr val="9AA3B4"/>
                </a:solidFill>
                <a:latin typeface="Arial" pitchFamily="34" charset="0"/>
                <a:ea typeface="Arial" pitchFamily="34" charset="-122"/>
                <a:cs typeface="Arial" pitchFamily="34" charset="-120"/>
              </a:rPr>
              <a:t>From short clips to continuous viewing</a:t>
            </a:r>
            <a:endParaRPr lang="en-US" sz="1150" dirty="0"/>
          </a:p>
        </p:txBody>
      </p:sp>
      <p:sp>
        <p:nvSpPr>
          <p:cNvPr id="19" name="Text 17"/>
          <p:cNvSpPr txBox="1"/>
          <p:nvPr/>
        </p:nvSpPr>
        <p:spPr>
          <a:xfrm>
            <a:off x="6629400" y="2798064"/>
            <a:ext cx="4663440" cy="502920"/>
          </a:xfrm>
          <a:prstGeom prst="rect">
            <a:avLst/>
          </a:prstGeom>
          <a:noFill/>
          <a:ln/>
        </p:spPr>
        <p:txBody>
          <a:bodyPr wrap="square" lIns="0" tIns="0" rIns="0" bIns="0" rtlCol="0" anchor="ctr"/>
          <a:lstStyle/>
          <a:p>
            <a:pPr indent="0" marL="0">
              <a:buNone/>
            </a:pPr>
            <a:r>
              <a:rPr lang="en-US" sz="2700" b="1" dirty="0">
                <a:solidFill>
                  <a:srgbClr val="F0B429"/>
                </a:solidFill>
                <a:latin typeface="Arial" pitchFamily="34" charset="0"/>
                <a:ea typeface="Arial" pitchFamily="34" charset="-122"/>
                <a:cs typeface="Arial" pitchFamily="34" charset="-120"/>
              </a:rPr>
              <a:t>ADAPTIVE</a:t>
            </a:r>
            <a:endParaRPr lang="en-US" sz="2700" dirty="0"/>
          </a:p>
        </p:txBody>
      </p:sp>
      <p:sp>
        <p:nvSpPr>
          <p:cNvPr id="20" name="Text 18"/>
          <p:cNvSpPr txBox="1"/>
          <p:nvPr/>
        </p:nvSpPr>
        <p:spPr>
          <a:xfrm>
            <a:off x="6647688" y="3300984"/>
            <a:ext cx="4663440" cy="292608"/>
          </a:xfrm>
          <a:prstGeom prst="rect">
            <a:avLst/>
          </a:prstGeom>
          <a:noFill/>
          <a:ln/>
        </p:spPr>
        <p:txBody>
          <a:bodyPr wrap="square" lIns="0" tIns="0" rIns="0" bIns="0" rtlCol="0" anchor="ctr"/>
          <a:lstStyle/>
          <a:p>
            <a:pPr indent="0" marL="0">
              <a:buNone/>
            </a:pPr>
            <a:r>
              <a:rPr lang="en-US" sz="1150" dirty="0">
                <a:solidFill>
                  <a:srgbClr val="9AA3B4"/>
                </a:solidFill>
                <a:latin typeface="Arial" pitchFamily="34" charset="0"/>
                <a:ea typeface="Arial" pitchFamily="34" charset="-122"/>
                <a:cs typeface="Arial" pitchFamily="34" charset="-120"/>
              </a:rPr>
              <a:t>Captions respond to scene context</a:t>
            </a:r>
            <a:endParaRPr lang="en-US" sz="1150" dirty="0"/>
          </a:p>
        </p:txBody>
      </p:sp>
      <p:sp>
        <p:nvSpPr>
          <p:cNvPr id="21" name="Text 19"/>
          <p:cNvSpPr txBox="1"/>
          <p:nvPr/>
        </p:nvSpPr>
        <p:spPr>
          <a:xfrm>
            <a:off x="6629400" y="3785616"/>
            <a:ext cx="4663440" cy="502920"/>
          </a:xfrm>
          <a:prstGeom prst="rect">
            <a:avLst/>
          </a:prstGeom>
          <a:noFill/>
          <a:ln/>
        </p:spPr>
        <p:txBody>
          <a:bodyPr wrap="square" lIns="0" tIns="0" rIns="0" bIns="0" rtlCol="0" anchor="ctr"/>
          <a:lstStyle/>
          <a:p>
            <a:pPr indent="0" marL="0">
              <a:buNone/>
            </a:pPr>
            <a:r>
              <a:rPr lang="en-US" sz="2700" b="1" dirty="0">
                <a:solidFill>
                  <a:srgbClr val="F0B429"/>
                </a:solidFill>
                <a:latin typeface="Arial" pitchFamily="34" charset="0"/>
                <a:ea typeface="Arial" pitchFamily="34" charset="-122"/>
                <a:cs typeface="Arial" pitchFamily="34" charset="-120"/>
              </a:rPr>
              <a:t>USER-CONTROLLED</a:t>
            </a:r>
            <a:endParaRPr lang="en-US" sz="2700" dirty="0"/>
          </a:p>
        </p:txBody>
      </p:sp>
      <p:sp>
        <p:nvSpPr>
          <p:cNvPr id="22" name="Text 20"/>
          <p:cNvSpPr txBox="1"/>
          <p:nvPr/>
        </p:nvSpPr>
        <p:spPr>
          <a:xfrm>
            <a:off x="6647688" y="4288536"/>
            <a:ext cx="4663440" cy="292608"/>
          </a:xfrm>
          <a:prstGeom prst="rect">
            <a:avLst/>
          </a:prstGeom>
          <a:noFill/>
          <a:ln/>
        </p:spPr>
        <p:txBody>
          <a:bodyPr wrap="square" lIns="0" tIns="0" rIns="0" bIns="0" rtlCol="0" anchor="ctr"/>
          <a:lstStyle/>
          <a:p>
            <a:pPr indent="0" marL="0">
              <a:buNone/>
            </a:pPr>
            <a:r>
              <a:rPr lang="en-US" sz="1150" dirty="0">
                <a:solidFill>
                  <a:srgbClr val="9AA3B4"/>
                </a:solidFill>
                <a:latin typeface="Arial" pitchFamily="34" charset="0"/>
                <a:ea typeface="Arial" pitchFamily="34" charset="-122"/>
                <a:cs typeface="Arial" pitchFamily="34" charset="-120"/>
              </a:rPr>
              <a:t>Viewer preference stays central</a:t>
            </a:r>
            <a:endParaRPr lang="en-US" sz="1150" dirty="0"/>
          </a:p>
        </p:txBody>
      </p:sp>
      <p:sp>
        <p:nvSpPr>
          <p:cNvPr id="23" name="Text 21"/>
          <p:cNvSpPr txBox="1"/>
          <p:nvPr/>
        </p:nvSpPr>
        <p:spPr>
          <a:xfrm>
            <a:off x="6629400" y="4709160"/>
            <a:ext cx="4663440" cy="384048"/>
          </a:xfrm>
          <a:prstGeom prst="rect">
            <a:avLst/>
          </a:prstGeom>
          <a:noFill/>
          <a:ln/>
        </p:spPr>
        <p:txBody>
          <a:bodyPr wrap="square" lIns="0" tIns="0" rIns="0" bIns="0" rtlCol="0" anchor="ctr"/>
          <a:lstStyle/>
          <a:p>
            <a:pPr indent="0" marL="0">
              <a:buNone/>
            </a:pPr>
            <a:r>
              <a:rPr lang="en-US" sz="950" i="1" dirty="0">
                <a:solidFill>
                  <a:srgbClr val="6C7585"/>
                </a:solidFill>
                <a:latin typeface="Arial" pitchFamily="34" charset="0"/>
                <a:ea typeface="Arial" pitchFamily="34" charset="-122"/>
                <a:cs typeface="Arial" pitchFamily="34" charset="-120"/>
              </a:rPr>
              <a:t>Each of these is a question we intend to answer, not a result we are claiming.</a:t>
            </a:r>
            <a:endParaRPr lang="en-US" sz="950" dirty="0"/>
          </a:p>
        </p:txBody>
      </p:sp>
      <p:sp>
        <p:nvSpPr>
          <p:cNvPr id="24" name="Shape 22"/>
          <p:cNvSpPr/>
          <p:nvPr/>
        </p:nvSpPr>
        <p:spPr>
          <a:xfrm>
            <a:off x="594360" y="5440680"/>
            <a:ext cx="10927080" cy="777240"/>
          </a:xfrm>
          <a:prstGeom prst="roundRect">
            <a:avLst>
              <a:gd name="adj" fmla="val 16471"/>
            </a:avLst>
          </a:prstGeom>
          <a:solidFill>
            <a:srgbClr val="3B2F12"/>
          </a:solidFill>
          <a:ln w="12700">
            <a:solidFill>
              <a:srgbClr val="F0B429"/>
            </a:solidFill>
            <a:prstDash val="solid"/>
          </a:ln>
        </p:spPr>
      </p:sp>
      <p:sp>
        <p:nvSpPr>
          <p:cNvPr id="25" name="Text 23"/>
          <p:cNvSpPr txBox="1"/>
          <p:nvPr/>
        </p:nvSpPr>
        <p:spPr>
          <a:xfrm>
            <a:off x="914400" y="5440680"/>
            <a:ext cx="10332720" cy="777240"/>
          </a:xfrm>
          <a:prstGeom prst="rect">
            <a:avLst/>
          </a:prstGeom>
          <a:noFill/>
          <a:ln/>
        </p:spPr>
        <p:txBody>
          <a:bodyPr wrap="square" lIns="0" tIns="0" rIns="0" bIns="0" rtlCol="0" anchor="ctr"/>
          <a:lstStyle/>
          <a:p>
            <a:pPr indent="0" marL="0">
              <a:buNone/>
            </a:pPr>
            <a:r>
              <a:rPr lang="en-US" sz="1500" b="1" dirty="0">
                <a:solidFill>
                  <a:srgbClr val="F4F6FA"/>
                </a:solidFill>
                <a:latin typeface="Arial" pitchFamily="34" charset="0"/>
                <a:ea typeface="Arial" pitchFamily="34" charset="-122"/>
                <a:cs typeface="Arial" pitchFamily="34" charset="-120"/>
              </a:rPr>
              <a:t>SceneCaptions explores how personalized sound captions can stay useful across an entire story — not just a short clip.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SceneCaptions — Adaptive Non-Speech Captions for DHH Viewers</dc:title>
  <dc:subject>PptxGenJS Presentation</dc:subject>
  <dc:creator>SceneCaptions project team</dc:creator>
  <cp:lastModifiedBy>SceneCaptions project team</cp:lastModifiedBy>
  <cp:revision>1</cp:revision>
  <dcterms:created xsi:type="dcterms:W3CDTF">2026-09-21T07:09:12Z</dcterms:created>
  <dcterms:modified xsi:type="dcterms:W3CDTF">2026-09-21T07:09:12Z</dcterms:modified>
</cp:coreProperties>
</file>